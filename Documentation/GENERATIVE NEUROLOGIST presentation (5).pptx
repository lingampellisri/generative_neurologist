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1"/>
  </p:notesMasterIdLst>
  <p:sldIdLst>
    <p:sldId id="256" r:id="rId5"/>
    <p:sldId id="280" r:id="rId6"/>
    <p:sldId id="289" r:id="rId7"/>
    <p:sldId id="284" r:id="rId8"/>
    <p:sldId id="291" r:id="rId9"/>
    <p:sldId id="286" r:id="rId10"/>
    <p:sldId id="290" r:id="rId11"/>
    <p:sldId id="287" r:id="rId12"/>
    <p:sldId id="285" r:id="rId13"/>
    <p:sldId id="292" r:id="rId14"/>
    <p:sldId id="294" r:id="rId15"/>
    <p:sldId id="296" r:id="rId16"/>
    <p:sldId id="297" r:id="rId17"/>
    <p:sldId id="293" r:id="rId18"/>
    <p:sldId id="295" r:id="rId19"/>
    <p:sldId id="28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30T12:59:03.204"/>
    </inkml:context>
    <inkml:brush xml:id="br0">
      <inkml:brushProperty name="width" value="0.2" units="cm"/>
      <inkml:brushProperty name="height" value="0.2" units="cm"/>
      <inkml:brushProperty name="color" value="#FFFFFF"/>
    </inkml:brush>
  </inkml:definitions>
  <inkml:trace contextRef="#ctx0" brushRef="#br0">527 7 24575,'163'15'0,"-57"-4"0,-81-9 0,0 2 0,-1 0 0,1 1 0,-1 1 0,0 2 0,-1 0 0,0 2 0,0 0 0,30 20 0,76 36 0,-84-44 0,-3-3 0,-42-19 0,-1 0 0,1 0 0,0 0 0,0 0 0,0 0 0,0 0 0,0 1 0,-1-1 0,1 0 0,0 0 0,0 0 0,0 0 0,0 0 0,0 0 0,0 0 0,-1 0 0,1 1 0,0-1 0,0 0 0,0 0 0,0 0 0,0 0 0,0 0 0,0 1 0,0-1 0,0 0 0,0 0 0,0 0 0,0 0 0,0 0 0,0 1 0,0-1 0,0 0 0,0 0 0,0 0 0,0 0 0,0 1 0,0-1 0,0 0 0,0 0 0,0 0 0,0 0 0,0 0 0,0 1 0,0-1 0,0 0 0,0 0 0,1 0 0,-1 0 0,0 0 0,0 0 0,0 1 0,0-1 0,0 0 0,0 0 0,1 0 0,-1 0 0,0 0 0,0 0 0,0 0 0,0 0 0,1 0 0,-19 2 0,13-1 0,-66 8 0,-111 8 0,4-19 0,-92 4 0,251 0 0,1 1 0,0 1 0,-35 13 0,34-10 0,-1-1 0,-35 6 0,48-11 0,0-1 0,0 0 0,0 0 0,0 0 0,-1-1 0,1 0 0,0 0 0,0-1 0,0 0 0,1 0 0,-13-6 0,4 1 0,-1 0 0,1 2 0,-1-1 0,0 2 0,0 0 0,-19-1 0,25 4 0,-1 0 0,0 1 0,0 0 0,1 1 0,-1 0 0,0 0 0,1 1 0,-1 1 0,1 0 0,-13 5 0,41-10 0,0 0 0,27-8 0,-28 3 0,1 0 0,-2-2 0,1 0 0,-1-1 0,-1 0 0,19-17 0,-29 22 0,-1 0 0,1-1 0,-1 0 0,7-11 0,-10 13 0,1 1 0,-1 0 0,1-1 0,0 1 0,1 0 0,-1 0 0,0 0 0,1 0 0,0 1 0,-1-1 0,1 1 0,0 0 0,1 0 0,-1 0 0,0 0 0,0 0 0,1 0 0,-1 1 0,1 0 0,4-1 0,3 1 0,0 0 0,0 1 0,0 1 0,0 0 0,-1 0 0,1 1 0,0 0 0,10 5 0,36 5 0,6-7 0,85-5 0,-86-1 0,-78 2 0,3 0 0,-1-1 0,1 0 0,-1-1 0,0 0 0,-13-4 0,24 5 0,1-1 0,-1 0 0,1 1 0,-1-1 0,1 0 0,0 0 0,-1 0 0,1-1 0,0 1 0,0-1 0,0 1 0,0-1 0,0 1 0,0-1 0,0 0 0,1 0 0,-1 0 0,1 0 0,-1 0 0,1-1 0,0 1 0,0 0 0,0 0 0,0-1 0,0 1 0,0-1 0,1 1 0,-1-1 0,1 1 0,0-1 0,0 1 0,0-1 0,0 0 0,0 1 0,0-1 0,1-2 0,0-1-195,1 1 0,0-1 0,-1 1 0,2 0 0,-1-1 0,4-5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30T12:59:04.174"/>
    </inkml:context>
    <inkml:brush xml:id="br0">
      <inkml:brushProperty name="width" value="0.2" units="cm"/>
      <inkml:brushProperty name="height" value="0.2" units="cm"/>
      <inkml:brushProperty name="color" value="#FFFFFF"/>
    </inkml:brush>
  </inkml:definitions>
  <inkml:trace contextRef="#ctx0" brushRef="#br0">0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30T13:00:13.006"/>
    </inkml:context>
    <inkml:brush xml:id="br0">
      <inkml:brushProperty name="width" value="0.2" units="cm"/>
      <inkml:brushProperty name="height" value="0.2" units="cm"/>
      <inkml:brushProperty name="color" value="#FFFFFF"/>
    </inkml:brush>
  </inkml:definitions>
  <inkml:trace contextRef="#ctx0" brushRef="#br0">0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30T13:00:14.147"/>
    </inkml:context>
    <inkml:brush xml:id="br0">
      <inkml:brushProperty name="width" value="0.2" units="cm"/>
      <inkml:brushProperty name="height" value="0.2" units="cm"/>
      <inkml:brushProperty name="color" value="#FFFFFF"/>
    </inkml:brush>
  </inkml:definitions>
  <inkml:trace contextRef="#ctx0" brushRef="#br0">0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30T13:00:15.037"/>
    </inkml:context>
    <inkml:brush xml:id="br0">
      <inkml:brushProperty name="width" value="0.2" units="cm"/>
      <inkml:brushProperty name="height" value="0.2" units="cm"/>
      <inkml:brushProperty name="color" value="#FFFFFF"/>
    </inkml:brush>
  </inkml:definitions>
  <inkml:trace contextRef="#ctx0" brushRef="#br0">1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30T13:00:37.241"/>
    </inkml:context>
    <inkml:brush xml:id="br0">
      <inkml:brushProperty name="width" value="0.2" units="cm"/>
      <inkml:brushProperty name="height" value="0.2" units="cm"/>
      <inkml:brushProperty name="color" value="#FFFFFF"/>
    </inkml:brush>
  </inkml:definitions>
  <inkml:trace contextRef="#ctx0" brushRef="#br0">1150 511 24575,'-44'0'0,"9"-1"0,0 1 0,1 2 0,-45 9 0,62-8 0,0 1 0,1 0 0,0 1 0,-1 1 0,2 1 0,-1 0 0,-19 13 0,9-3 0,0-2 0,-1 0 0,-1-2 0,-55 18 0,66-27 0,-1 0 0,-21 1 0,179-48 0,-138 42 0,220-71 0,-221 71 0,5 0 0,1-1 0,-1-1 0,0 1 0,0-1 0,-1 0 0,1-1 0,9-7 0,-14 11 0,-1 0 0,0-1 0,1 1 0,-1 0 0,0-1 0,1 1 0,-1 0 0,0-1 0,1 1 0,-1 0 0,0-1 0,0 1 0,0-1 0,1 1 0,-1 0 0,0-1 0,0 1 0,0-1 0,0 1 0,0-1 0,0 1 0,0-1 0,0 1 0,0 0 0,0-1 0,0 1 0,0-1 0,0 1 0,0-1 0,0 1 0,-1-1 0,1 1 0,0 0 0,0-1 0,-1 1 0,1-1 0,0 1 0,0 0 0,-1-1 0,1 1 0,0 0 0,-1-1 0,1 1 0,0 0 0,-1 0 0,1-1 0,0 1 0,-1 0 0,1 0 0,-1 0 0,1 0 0,-1-1 0,1 1 0,-1 0 0,-25-6 0,-260-40 0,262 42 0,0 1 0,-1 1 0,1 2 0,-1 0 0,1 1 0,0 2 0,-37 8 0,23-5 0,1-2 0,-2-2 0,-50-3 0,-47 3 0,135-2 0,-1 0 0,0 0 0,0 0 0,0 1 0,0-1 0,0 0 0,0 1 0,1-1 0,-1 1 0,0 0 0,0 0 0,1 0 0,-1 0 0,1 0 0,-1 0 0,1 0 0,-1 0 0,1 0 0,-1 1 0,1-1 0,0 1 0,0-1 0,0 1 0,0-1 0,0 1 0,0 0 0,0-1 0,0 1 0,1 0 0,-1 0 0,1 0 0,-1 3 0,1 3 0,0 1 0,0-1 0,1 0 0,0 1 0,1-1 0,2 10 0,-2-10 0,1-1 0,0 0 0,0 0 0,0-1 0,1 1 0,0-1 0,0 1 0,1-1 0,0 0 0,0-1 0,0 1 0,0-1 0,10 7 0,5 2 0,1-1 0,40 20 0,-49-29 0,-1 0 0,1 0 0,0-1 0,0 0 0,0-1 0,1-1 0,-1 0 0,0 0 0,1-1 0,-1-1 0,0 0 0,0-1 0,1 0 0,-1-1 0,-1 0 0,1-1 0,12-6 0,-1 2 0,0 1 0,1 0 0,0 2 0,-1 1 0,2 1 0,-1 1 0,47 2 0,-59-1 0,-1 0 0,1 0 0,-1-2 0,1 1 0,-1-1 0,0-1 0,20-9 0,11-3 0,-12 8 0,-23 7 0,0-1 0,0 0 0,-1 0 0,1-1 0,-1 1 0,12-8 0,112-86 0,42-28 0,61-20 0,111-74 0,-334 211 0,0 1 0,0 0 0,1 0 0,-1 1 0,1 1 0,0 0 0,1 1 0,-1-1 0,1 2 0,-1 0 0,1 0 0,-1 1 0,25 2 0,-30-1 0,7 0 0,0 0 0,0 1 0,26 6 0,-37-7 0,0 0 0,1 1 0,-1 0 0,0 0 0,0-1 0,0 1 0,0 1 0,0-1 0,0 0 0,0 0 0,0 1 0,0-1 0,0 1 0,0-1 0,-1 1 0,1 0 0,-1 0 0,0 0 0,1 0 0,-1 0 0,0 0 0,0 0 0,0 0 0,0 0 0,-1 1 0,1-1 0,0 0 0,-1 0 0,1 4 0,-1-3 0,-1-1 0,1 1 0,-1 0 0,1-1 0,-1 1 0,0 0 0,0-1 0,0 1 0,0-1 0,0 0 0,0 1 0,-1-1 0,1 0 0,-1 1 0,0-1 0,-3 2 0,-4 5 0,0-1 0,-16 10 0,-2 2 0,-9 14 0,-33 42 0,38-41 0,26-30 0,0 1 0,1-1 0,0 1 0,0 0 0,0 0 0,1 1 0,0-1 0,-3 11 0,5-14 0,0 1 0,0 0 0,1-1 0,0 1 0,-1-1 0,1 1 0,1 0 0,-1-1 0,0 1 0,1 0 0,0-1 0,0 1 0,0-1 0,0 0 0,0 1 0,1-1 0,0 0 0,2 5 0,12 12 0,-12-16 0,0 0 0,-1 0 0,1 0 0,-1 1 0,0 0 0,2 5 0,-5-9 0,1 0 0,-1 1 0,0-1 0,1 0 0,-1 1 0,0-1 0,0 0 0,0 1 0,0-1 0,0 0 0,0 1 0,-1-1 0,1 0 0,0 0 0,-1 1 0,1-1 0,-1 0 0,1 0 0,-1 1 0,1-1 0,-1 0 0,0 0 0,0 0 0,0 0 0,0 0 0,0 0 0,1 0 0,-2 0 0,-1 1 0,-8 5 0,0 0 0,0 0 0,-19 7 0,-1 1 0,-2 2 0,-48 18 0,65-30 0,0-1 0,0 0 0,0-1 0,0 0 0,-28 0 0,15-3 0,-162 8 0,189-8 0,0 0 0,-1 1 0,1-1 0,0 0 0,0 0 0,0-1 0,0 1 0,0 0 0,0-1 0,0 1 0,0-1 0,-4-1 0,6 2 0,-1 0 0,1-1 0,0 1 0,0 0 0,-1 0 0,1-1 0,0 1 0,0 0 0,-1-1 0,1 1 0,0 0 0,0 0 0,0-1 0,-1 1 0,1-1 0,0 1 0,0 0 0,0-1 0,0 1 0,0 0 0,0-1 0,0 1 0,0 0 0,0-1 0,0 0 0,9-13 0,99-71 0,-99 79 0,0 0 0,0 0 0,0 1 0,1 0 0,-1 1 0,1 0 0,0 0 0,1 1 0,15-2 0,30-12 0,-32 9 0,-1 1 0,1 1 0,0 2 0,1 0 0,-1 1 0,1 1 0,0 2 0,36 3 0,-58-3 0,0 1 0,0-1 0,0 1 0,0 0 0,0 0 0,-1 0 0,1 0 0,0 1 0,-1-1 0,1 1 0,-1-1 0,0 1 0,1 0 0,-1 0 0,0 0 0,0 0 0,0 1 0,0-1 0,-1 0 0,1 1 0,-1 0 0,1-1 0,-1 1 0,0 0 0,0-1 0,0 1 0,0 0 0,0 0 0,0 5 0,1 9 0,-1 0 0,-1 0 0,0 0 0,-3 19 0,1-5 0,2-24 0,-1 7 0,1 0 0,-6 21 0,5-30 0,0 0 0,-1 0 0,0-1 0,0 1 0,0 0 0,-1-1 0,1 0 0,-1 0 0,0 0 0,-6 7 0,-29 24 0,25-24 0,0 1 0,1 1 0,-15 18 0,24-27 0,0 0 0,1 1 0,-1-1 0,1 1 0,0 0 0,0-1 0,0 1 0,1 0 0,0 0 0,0 0 0,0 1 0,1-1 0,-1 0 0,1 0 0,1 9 0,0-7 0,0 2 0,0-1 0,1 1 0,-1-1 0,2 0 0,3 10 0,-5-16 0,0 0 0,0 1 0,0-1 0,1-1 0,-1 1 0,1 0 0,-1 0 0,1 0 0,0-1 0,0 1 0,0-1 0,0 1 0,0-1 0,0 0 0,0 0 0,0 0 0,0 0 0,0 0 0,1 0 0,-1-1 0,0 1 0,1-1 0,3 1 0,9-1 0,0-1 0,0 0 0,-1-1 0,1-1 0,0 0 0,-1-1 0,22-8 0,-8 3 0,567-228 0,-589 234 0,113-49 0,194-118 0,-308 167 0,0 0 0,-1-1 0,1 1 0,-1-1 0,0 0 0,0 0 0,6-8 0,-9 11 0,-1-1 0,1 1 0,0 0 0,-1-1 0,1 1 0,-1-1 0,0 1 0,0-1 0,1 1 0,-1-1 0,0 1 0,0-1 0,0 1 0,-1-1 0,1 1 0,0-1 0,0 1 0,-1 0 0,1-1 0,-1 1 0,1-1 0,-1 1 0,0 0 0,0-1 0,1 1 0,-1 0 0,0 0 0,0 0 0,0-1 0,0 1 0,0 0 0,-3-1 0,-7-7 0,0 1 0,-1 0 0,0 1 0,-1 0 0,1 1 0,-1 1 0,-16-6 0,-26-11 0,29 10 0,-1 2 0,0 1 0,-1 0 0,0 3 0,0 0 0,0 1 0,0 2 0,-1 1 0,-53 3 0,58 2 0,0 0 0,0 1 0,1 1 0,-1 1 0,1 2 0,0 0 0,1 1 0,0 2 0,0 0 0,1 1 0,-36 28 0,-23 30 0,-32 25 0,105-89 0,0-1 0,1 1 0,0 0 0,1 1 0,0-1 0,0 1 0,-8 14 0,-22 56 0,18-36 0,17-41 0,-12 32 0,12-32 0,-1 0 0,1 0 0,0 1 0,0-1 0,0 0 0,0 0 0,0 1 0,0-1 0,0 0 0,0 0 0,0 1 0,0-1 0,0 0 0,0 1 0,0-1 0,0 0 0,0 0 0,0 1 0,0-1 0,1 0 0,-1 0 0,0 1 0,0-1 0,0 0 0,0 0 0,0 0 0,1 1 0,-1-1 0,0 0 0,0 0 0,0 0 0,1 1 0,0-1 0,0 0 0,0-1 0,0 1 0,0 0 0,0 0 0,0-1 0,0 1 0,0-1 0,0 1 0,0-1 0,0 1 0,0-1 0,-1 0 0,2 0 0,196-154 0,-158 129 0,75-35 0,-103 55 0,28-14 0,-11 4 0,1 2 0,57-19 0,-47 24 0,0 2 0,47-3 0,-52 7 0,-27 2 0,1 0 0,-1-1 0,1 1 0,10-5 0,-19 6 0,0 0 0,0 0 0,1 0 0,-1 0 0,0 0 0,0 0 0,0 0 0,1 0 0,-1 0 0,0 0 0,0 0 0,0-1 0,1 1 0,-1 0 0,0 0 0,0 0 0,0 0 0,0 0 0,1 0 0,-1 0 0,0 0 0,0-1 0,0 1 0,0 0 0,0 0 0,1 0 0,-1 0 0,0-1 0,0 1 0,0 0 0,0 0 0,0 0 0,0-1 0,0 1 0,0 0 0,0 0 0,0 0 0,0-1 0,0 1 0,0 0 0,0 0 0,0 0 0,0-1 0,0 1 0,0 0 0,0 0 0,0 0 0,0-1 0,-12-3 0,-19-1 0,-278 6 0,210 12 0,65-7 0,-45 1 0,67-6 0,0-2 0,0 0 0,0 0 0,0-1 0,1 0 0,-1-1 0,-18-7 0,3-2-1365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30T13:04:50.272"/>
    </inkml:context>
    <inkml:brush xml:id="br0">
      <inkml:brushProperty name="width" value="0.025" units="cm"/>
      <inkml:brushProperty name="height" value="0.025" units="cm"/>
      <inkml:brushProperty name="color" value="#FFFFFF"/>
    </inkml:brush>
  </inkml:definitions>
  <inkml:trace contextRef="#ctx0" brushRef="#br0">0 0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30T13:04:51.006"/>
    </inkml:context>
    <inkml:brush xml:id="br0">
      <inkml:brushProperty name="width" value="0.025" units="cm"/>
      <inkml:brushProperty name="height" value="0.025" units="cm"/>
      <inkml:brushProperty name="color" value="#FFFFFF"/>
    </inkml:brush>
  </inkml:definitions>
  <inkml:trace contextRef="#ctx0" brushRef="#br0">0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30T13:04:51.334"/>
    </inkml:context>
    <inkml:brush xml:id="br0">
      <inkml:brushProperty name="width" value="0.025" units="cm"/>
      <inkml:brushProperty name="height" value="0.025" units="cm"/>
      <inkml:brushProperty name="color" value="#FFFFFF"/>
    </inkml:brush>
  </inkml:definitions>
  <inkml:trace contextRef="#ctx0" brushRef="#br0">0 0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30T13:04:53.193"/>
    </inkml:context>
    <inkml:brush xml:id="br0">
      <inkml:brushProperty name="width" value="0.025" units="cm"/>
      <inkml:brushProperty name="height" value="0.025" units="cm"/>
      <inkml:brushProperty name="color" value="#FFFFFF"/>
    </inkml:brush>
  </inkml:definitions>
  <inkml:trace contextRef="#ctx0" brushRef="#br0">0 0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30T13:04:53.522"/>
    </inkml:context>
    <inkml:brush xml:id="br0">
      <inkml:brushProperty name="width" value="0.025" units="cm"/>
      <inkml:brushProperty name="height" value="0.025" units="cm"/>
      <inkml:brushProperty name="color" value="#FFFFFF"/>
    </inkml:brush>
  </inkml:definitions>
  <inkml:trace contextRef="#ctx0" brushRef="#br0">0 0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30T13:04:55.944"/>
    </inkml:context>
    <inkml:brush xml:id="br0">
      <inkml:brushProperty name="width" value="0.025" units="cm"/>
      <inkml:brushProperty name="height" value="0.025" units="cm"/>
      <inkml:brushProperty name="color" value="#FFFFFF"/>
    </inkml:brush>
  </inkml:definitions>
  <inkml:trace contextRef="#ctx0" brushRef="#br0">59 0 24575,'-1'1'0,"0"-1"0,0 0 0,0 1 0,0-1 0,0 0 0,0 1 0,0-1 0,0 1 0,1-1 0,-1 1 0,0 0 0,0-1 0,0 1 0,1 0 0,-1 0 0,0-1 0,1 1 0,-1 0 0,1 0 0,-1 0 0,1 0 0,-1 0 0,1 0 0,0 0 0,-1 0 0,1 2 0,-6 30 0,5-30 0,-1 38 0,2-30 0,-1 0 0,0 0 0,-4 20 0,5-31 0,0 1 0,0 0 0,0-1 0,0 1 0,0-1 0,0 1 0,-1 0 0,1-1 0,0 1 0,0 0 0,-1-1 0,1 1 0,0-1 0,-1 1 0,1-1 0,0 1 0,-1-1 0,1 1 0,-1-1 0,1 1 0,-1-1 0,1 1 0,-1-1 0,1 0 0,-2 1 0,1-1 0,1-1 0,-1 0 0,1 1 0,-1-1 0,1 0 0,-1 1 0,1-1 0,-1 0 0,1 1 0,0-1 0,-1 0 0,1 0 0,0 0 0,0 1 0,-1-3 0,-5-38 0,5-45-1365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30T13:04:56.334"/>
    </inkml:context>
    <inkml:brush xml:id="br0">
      <inkml:brushProperty name="width" value="0.025" units="cm"/>
      <inkml:brushProperty name="height" value="0.025" units="cm"/>
      <inkml:brushProperty name="color" value="#FFFFFF"/>
    </inkml:brush>
  </inkml:definitions>
  <inkml:trace contextRef="#ctx0" brushRef="#br0">1 0 24575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30T13:04:56.710"/>
    </inkml:context>
    <inkml:brush xml:id="br0">
      <inkml:brushProperty name="width" value="0.025" units="cm"/>
      <inkml:brushProperty name="height" value="0.025" units="cm"/>
      <inkml:brushProperty name="color" value="#FFFFFF"/>
    </inkml:brush>
  </inkml:definitions>
  <inkml:trace contextRef="#ctx0" brushRef="#br0">1 0 24575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30T13:04:58.678"/>
    </inkml:context>
    <inkml:brush xml:id="br0">
      <inkml:brushProperty name="width" value="0.025" units="cm"/>
      <inkml:brushProperty name="height" value="0.025" units="cm"/>
      <inkml:brushProperty name="color" value="#FFFFFF"/>
    </inkml:brush>
  </inkml:definitions>
  <inkml:trace contextRef="#ctx0" brushRef="#br0">0 0 24575,'0'0'-8191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30T13:04:59.007"/>
    </inkml:context>
    <inkml:brush xml:id="br0">
      <inkml:brushProperty name="width" value="0.025" units="cm"/>
      <inkml:brushProperty name="height" value="0.025" units="cm"/>
      <inkml:brushProperty name="color" value="#FFFFFF"/>
    </inkml:brush>
  </inkml:definitions>
  <inkml:trace contextRef="#ctx0" brushRef="#br0">0 0 24575,'0'0'-8191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30T13:04:59.335"/>
    </inkml:context>
    <inkml:brush xml:id="br0">
      <inkml:brushProperty name="width" value="0.025" units="cm"/>
      <inkml:brushProperty name="height" value="0.025" units="cm"/>
      <inkml:brushProperty name="color" value="#FFFFFF"/>
    </inkml:brush>
  </inkml:definitions>
  <inkml:trace contextRef="#ctx0" brushRef="#br0">0 0 24575,'0'0'-8191</inkml:trace>
  <inkml:trace contextRef="#ctx0" brushRef="#br0" timeOffset="1">0 0 24575,'0'0'-8191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30T13:05:04.789"/>
    </inkml:context>
    <inkml:brush xml:id="br0">
      <inkml:brushProperty name="width" value="0.025" units="cm"/>
      <inkml:brushProperty name="height" value="0.025" units="cm"/>
      <inkml:brushProperty name="color" value="#FFFFFF"/>
    </inkml:brush>
  </inkml:definitions>
  <inkml:trace contextRef="#ctx0" brushRef="#br0">0 0 24575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30T13:05:05.117"/>
    </inkml:context>
    <inkml:brush xml:id="br0">
      <inkml:brushProperty name="width" value="0.025" units="cm"/>
      <inkml:brushProperty name="height" value="0.025" units="cm"/>
      <inkml:brushProperty name="color" value="#FFFFFF"/>
    </inkml:brush>
  </inkml:definitions>
  <inkml:trace contextRef="#ctx0" brushRef="#br0">0 0 24575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30T13:08:29.023"/>
    </inkml:context>
    <inkml:brush xml:id="br0">
      <inkml:brushProperty name="width" value="0.1" units="cm"/>
      <inkml:brushProperty name="height" value="0.1" units="cm"/>
      <inkml:brushProperty name="color" value="#FFFFFF"/>
    </inkml:brush>
  </inkml:definitions>
  <inkml:trace contextRef="#ctx0" brushRef="#br0">0 1 24575,'1'5'0,"0"1"0,0 0 0,0 0 0,1 0 0,4 10 0,-4-12 0,-1 0 0,1 0 0,-1 0 0,1 0 0,-1 0 0,-1 0 0,1 1 0,-1-1 0,1 0 0,-1 1 0,0-1 0,-1 6 0,-9 3 0,5-6 0,5-6 0,1-1 0,0 1 0,-1-1 0,1 0 0,0 1 0,-1-1 0,1 0 0,0 0 0,0 0 0,-1 1 0,1-1 0,0 0 0,0 0 0,-1 0 0,1 0 0,0 0 0,0-1 0,0 1 0,4 0 0,-1 0 0,1-1 0,-1 1 0,0-1 0,1 0 0,-1-1 0,0 1 0,8-4 0,-10 4 0,-1 0 0,0 0 0,1 0 0,-1 0 0,0 0 0,1 0 0,-1 0 0,0 0 0,0 0 0,0-1 0,0 1 0,0 0 0,0-1 0,0 1 0,-1-1 0,1 1 0,-1-1 0,1 1 0,-1-1 0,1 0 0,-1 1 0,0-1 0,1 1 0,-1-1 0,0 0 0,-1-1 0,1-1-151,-1 1-1,1-1 0,-1 1 0,0 0 1,-1-1-1,1 1 0,0 0 1,-4-5-1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2ADB1-275D-430A-89EE-5C7E6CFF6FF2}" type="datetimeFigureOut">
              <a:rPr lang="en-US" smtClean="0"/>
              <a:t>7/2/2024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25628-3A68-42F4-BA86-981817953149}" type="slidenum">
              <a:rPr lang="en-US" smtClean="0"/>
              <a:t>‹#›</a:t>
            </a:fld>
            <a:endParaRPr lang="en-US"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005E26E-BCB2-4FD5-8FD5-81A5EAE94C21}" type="datetime1">
              <a:rPr lang="en-US" smtClean="0"/>
              <a:t>7/2/2024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85C470-CD19-455C-B830-6D252EAD7FE5}" type="datetime1">
              <a:rPr lang="en-US" smtClean="0"/>
              <a:t>7/2/2024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85C43C-50D9-4F49-A136-0EFF292F93ED}" type="datetime1">
              <a:rPr lang="en-US" smtClean="0"/>
              <a:t>7/2/2024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53B1A3-0AEF-4064-A724-D27D660C8653}" type="datetime1">
              <a:rPr lang="en-US" smtClean="0"/>
              <a:t>7/2/2024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D5D0F2-BF66-4A24-9384-A0129B196518}" type="datetime1">
              <a:rPr lang="en-US" smtClean="0"/>
              <a:t>7/2/2024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C318A6C-4F6B-48D2-BDB0-D7413B3FDB0A}" type="datetime1">
              <a:rPr lang="en-US" smtClean="0"/>
              <a:t>7/2/2024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01ECED-6ECE-4989-B917-9D4D7E6D3C76}" type="datetime1">
              <a:rPr lang="en-US" smtClean="0"/>
              <a:t>7/2/2024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B570E1-CB40-488E-8C6F-EF4211DFFCB0}" type="datetime1">
              <a:rPr lang="en-US" smtClean="0"/>
              <a:t>7/2/2024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1CEB6AF-9F5C-43BE-879E-CB9514111250}" type="datetime1">
              <a:rPr lang="en-US" smtClean="0"/>
              <a:t>7/2/2024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C2E9B8-0487-42E4-B571-744A3D775783}" type="datetime1">
              <a:rPr lang="en-US" smtClean="0"/>
              <a:t>7/2/2024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52E32D-1E84-43FD-8158-FFFE757EB0E8}" type="datetime1">
              <a:rPr lang="en-US" smtClean="0"/>
              <a:t>7/2/2024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7EE424C-FCA3-4EDD-B274-8E055D649B7D}" type="datetime1">
              <a:rPr lang="en-US" smtClean="0"/>
              <a:t>7/2/2024</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9.png"/><Relationship Id="rId18" Type="http://schemas.openxmlformats.org/officeDocument/2006/relationships/customXml" Target="../ink/ink12.xml"/><Relationship Id="rId26" Type="http://schemas.openxmlformats.org/officeDocument/2006/relationships/customXml" Target="../ink/ink19.xml"/><Relationship Id="rId3" Type="http://schemas.openxmlformats.org/officeDocument/2006/relationships/customXml" Target="../ink/ink1.xml"/><Relationship Id="rId21" Type="http://schemas.openxmlformats.org/officeDocument/2006/relationships/customXml" Target="../ink/ink14.xml"/><Relationship Id="rId7" Type="http://schemas.openxmlformats.org/officeDocument/2006/relationships/customXml" Target="../ink/ink3.xml"/><Relationship Id="rId12" Type="http://schemas.openxmlformats.org/officeDocument/2006/relationships/customXml" Target="../ink/ink7.xml"/><Relationship Id="rId17" Type="http://schemas.openxmlformats.org/officeDocument/2006/relationships/customXml" Target="../ink/ink11.xml"/><Relationship Id="rId25" Type="http://schemas.openxmlformats.org/officeDocument/2006/relationships/customXml" Target="../ink/ink18.xml"/><Relationship Id="rId2" Type="http://schemas.openxmlformats.org/officeDocument/2006/relationships/image" Target="../media/image3.png"/><Relationship Id="rId16" Type="http://schemas.openxmlformats.org/officeDocument/2006/relationships/customXml" Target="../ink/ink10.xml"/><Relationship Id="rId20" Type="http://schemas.openxmlformats.org/officeDocument/2006/relationships/customXml" Target="../ink/ink13.xml"/><Relationship Id="rId29"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8.png"/><Relationship Id="rId24" Type="http://schemas.openxmlformats.org/officeDocument/2006/relationships/customXml" Target="../ink/ink17.xml"/><Relationship Id="rId5" Type="http://schemas.openxmlformats.org/officeDocument/2006/relationships/customXml" Target="../ink/ink2.xml"/><Relationship Id="rId15" Type="http://schemas.openxmlformats.org/officeDocument/2006/relationships/customXml" Target="../ink/ink9.xml"/><Relationship Id="rId23" Type="http://schemas.openxmlformats.org/officeDocument/2006/relationships/customXml" Target="../ink/ink16.xml"/><Relationship Id="rId28" Type="http://schemas.openxmlformats.org/officeDocument/2006/relationships/image" Target="../media/image11.png"/><Relationship Id="rId10" Type="http://schemas.openxmlformats.org/officeDocument/2006/relationships/customXml" Target="../ink/ink6.xml"/><Relationship Id="rId19" Type="http://schemas.openxmlformats.org/officeDocument/2006/relationships/image" Target="../media/image10.png"/><Relationship Id="rId4" Type="http://schemas.openxmlformats.org/officeDocument/2006/relationships/image" Target="../media/image6.png"/><Relationship Id="rId9" Type="http://schemas.openxmlformats.org/officeDocument/2006/relationships/customXml" Target="../ink/ink5.xml"/><Relationship Id="rId14" Type="http://schemas.openxmlformats.org/officeDocument/2006/relationships/customXml" Target="../ink/ink8.xml"/><Relationship Id="rId22" Type="http://schemas.openxmlformats.org/officeDocument/2006/relationships/customXml" Target="../ink/ink15.xml"/><Relationship Id="rId27" Type="http://schemas.openxmlformats.org/officeDocument/2006/relationships/customXml" Target="../ink/ink20.xml"/><Relationship Id="rId30" Type="http://schemas.openxmlformats.org/officeDocument/2006/relationships/hyperlink" Target="https://www.pngall.com/learning-png/download/46887"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svg"/></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230BD1B1-AA22-48F1-B3ED-579CD284605D}"/>
              </a:ext>
              <a:ext uri="{C183D7F6-B498-43B3-948B-1728B52AA6E4}">
                <adec:decorative xmlns:adec="http://schemas.microsoft.com/office/drawing/2017/decorative" val="1"/>
              </a:ext>
            </a:extLst>
          </p:cNvPr>
          <p:cNvPicPr>
            <a:picLocks noChangeAspect="1"/>
          </p:cNvPicPr>
          <p:nvPr/>
        </p:nvPicPr>
        <p:blipFill rotWithShape="1">
          <a:blip r:embed="rId2"/>
          <a:srcRect r="52444" b="-1"/>
          <a:stretch/>
        </p:blipFill>
        <p:spPr>
          <a:xfrm>
            <a:off x="20" y="975"/>
            <a:ext cx="12191980" cy="6858000"/>
          </a:xfrm>
          <a:prstGeom prst="rect">
            <a:avLst/>
          </a:prstGeom>
        </p:spPr>
      </p:pic>
      <p:sp>
        <p:nvSpPr>
          <p:cNvPr id="21" name="Rectangle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D84FB-5D02-47D2-98FD-4F01A02E2AEA}"/>
              </a:ext>
            </a:extLst>
          </p:cNvPr>
          <p:cNvSpPr>
            <a:spLocks noGrp="1"/>
          </p:cNvSpPr>
          <p:nvPr>
            <p:ph type="ctrTitle"/>
          </p:nvPr>
        </p:nvSpPr>
        <p:spPr>
          <a:xfrm>
            <a:off x="4309349" y="3429000"/>
            <a:ext cx="7501651" cy="1090938"/>
          </a:xfrm>
        </p:spPr>
        <p:txBody>
          <a:bodyPr anchor="b">
            <a:normAutofit/>
          </a:bodyPr>
          <a:lstStyle/>
          <a:p>
            <a:pPr algn="l"/>
            <a:r>
              <a:rPr lang="en-US" b="1" dirty="0">
                <a:solidFill>
                  <a:srgbClr val="FFFFFF"/>
                </a:solidFill>
              </a:rPr>
              <a:t> GENERATIVE NEUROLOGIST</a:t>
            </a:r>
          </a:p>
        </p:txBody>
      </p:sp>
      <p:sp>
        <p:nvSpPr>
          <p:cNvPr id="3" name="Subtitle 2">
            <a:extLst>
              <a:ext uri="{FF2B5EF4-FFF2-40B4-BE49-F238E27FC236}">
                <a16:creationId xmlns:a16="http://schemas.microsoft.com/office/drawing/2014/main" id="{E9F6641D-ADF3-40BD-9BA3-E740E77C8826}"/>
              </a:ext>
            </a:extLst>
          </p:cNvPr>
          <p:cNvSpPr>
            <a:spLocks noGrp="1"/>
          </p:cNvSpPr>
          <p:nvPr>
            <p:ph type="subTitle" idx="1"/>
          </p:nvPr>
        </p:nvSpPr>
        <p:spPr>
          <a:xfrm>
            <a:off x="4309350" y="4852582"/>
            <a:ext cx="7501650" cy="514816"/>
          </a:xfrm>
        </p:spPr>
        <p:txBody>
          <a:bodyPr anchor="t">
            <a:normAutofit/>
          </a:bodyPr>
          <a:lstStyle/>
          <a:p>
            <a:r>
              <a:rPr lang="en-US" dirty="0">
                <a:solidFill>
                  <a:srgbClr val="FFFFFF"/>
                </a:solidFill>
              </a:rPr>
              <a:t> DEEP LEARNING</a:t>
            </a:r>
          </a:p>
        </p:txBody>
      </p:sp>
      <p:cxnSp>
        <p:nvCxnSpPr>
          <p:cNvPr id="23" name="Straight Connector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06257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7A5486-7EC8-5CD8-BD06-5EA132198FF6}"/>
              </a:ext>
            </a:extLst>
          </p:cNvPr>
          <p:cNvSpPr txBox="1"/>
          <p:nvPr/>
        </p:nvSpPr>
        <p:spPr>
          <a:xfrm>
            <a:off x="1308099" y="662154"/>
            <a:ext cx="4290061" cy="338554"/>
          </a:xfrm>
          <a:prstGeom prst="rect">
            <a:avLst/>
          </a:prstGeom>
          <a:noFill/>
        </p:spPr>
        <p:txBody>
          <a:bodyPr wrap="square" rtlCol="0">
            <a:spAutoFit/>
          </a:bodyPr>
          <a:lstStyle/>
          <a:p>
            <a:r>
              <a:rPr lang="en-US" sz="1600" dirty="0"/>
              <a:t>Generative Neurologist</a:t>
            </a:r>
            <a:endParaRPr lang="en-IN" sz="1600" dirty="0"/>
          </a:p>
        </p:txBody>
      </p:sp>
      <p:pic>
        <p:nvPicPr>
          <p:cNvPr id="5" name="Picture 4">
            <a:extLst>
              <a:ext uri="{FF2B5EF4-FFF2-40B4-BE49-F238E27FC236}">
                <a16:creationId xmlns:a16="http://schemas.microsoft.com/office/drawing/2014/main" id="{1E6B8D2E-4900-97ED-0625-D9039CCCF27E}"/>
              </a:ext>
            </a:extLst>
          </p:cNvPr>
          <p:cNvPicPr>
            <a:picLocks noChangeAspect="1"/>
          </p:cNvPicPr>
          <p:nvPr/>
        </p:nvPicPr>
        <p:blipFill>
          <a:blip r:embed="rId2"/>
          <a:stretch>
            <a:fillRect/>
          </a:stretch>
        </p:blipFill>
        <p:spPr>
          <a:xfrm>
            <a:off x="5936149" y="1141095"/>
            <a:ext cx="5704501" cy="2536825"/>
          </a:xfrm>
          <a:prstGeom prst="rect">
            <a:avLst/>
          </a:prstGeom>
        </p:spPr>
      </p:pic>
      <p:sp>
        <p:nvSpPr>
          <p:cNvPr id="7" name="TextBox 6">
            <a:extLst>
              <a:ext uri="{FF2B5EF4-FFF2-40B4-BE49-F238E27FC236}">
                <a16:creationId xmlns:a16="http://schemas.microsoft.com/office/drawing/2014/main" id="{01CCD0CB-8197-F409-6BCA-9CE7EEDCD5EF}"/>
              </a:ext>
            </a:extLst>
          </p:cNvPr>
          <p:cNvSpPr txBox="1"/>
          <p:nvPr/>
        </p:nvSpPr>
        <p:spPr>
          <a:xfrm rot="235901">
            <a:off x="11379540" y="3234328"/>
            <a:ext cx="1005840" cy="246221"/>
          </a:xfrm>
          <a:prstGeom prst="rect">
            <a:avLst/>
          </a:prstGeom>
          <a:noFill/>
        </p:spPr>
        <p:txBody>
          <a:bodyPr wrap="square" rtlCol="0">
            <a:spAutoFit/>
          </a:bodyPr>
          <a:lstStyle/>
          <a:p>
            <a:r>
              <a:rPr lang="en-IN" sz="1000" b="1" dirty="0"/>
              <a:t>Sigmoid</a:t>
            </a:r>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0FB0DFBB-0BBE-AF32-10DB-4BCBDB695483}"/>
                  </a:ext>
                </a:extLst>
              </p14:cNvPr>
              <p14:cNvContentPartPr/>
              <p14:nvPr/>
            </p14:nvContentPartPr>
            <p14:xfrm>
              <a:off x="11148960" y="2892920"/>
              <a:ext cx="461160" cy="113760"/>
            </p14:xfrm>
          </p:contentPart>
        </mc:Choice>
        <mc:Fallback xmlns="">
          <p:pic>
            <p:nvPicPr>
              <p:cNvPr id="8" name="Ink 7">
                <a:extLst>
                  <a:ext uri="{FF2B5EF4-FFF2-40B4-BE49-F238E27FC236}">
                    <a16:creationId xmlns:a16="http://schemas.microsoft.com/office/drawing/2014/main" id="{0FB0DFBB-0BBE-AF32-10DB-4BCBDB695483}"/>
                  </a:ext>
                </a:extLst>
              </p:cNvPr>
              <p:cNvPicPr/>
              <p:nvPr/>
            </p:nvPicPr>
            <p:blipFill>
              <a:blip r:embed="rId4"/>
              <a:stretch>
                <a:fillRect/>
              </a:stretch>
            </p:blipFill>
            <p:spPr>
              <a:xfrm>
                <a:off x="11113320" y="2856920"/>
                <a:ext cx="53280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8391FE60-8165-F733-883F-653B0440F61C}"/>
                  </a:ext>
                </a:extLst>
              </p14:cNvPr>
              <p14:cNvContentPartPr/>
              <p14:nvPr/>
            </p14:nvContentPartPr>
            <p14:xfrm>
              <a:off x="11602920" y="2356880"/>
              <a:ext cx="360" cy="360"/>
            </p14:xfrm>
          </p:contentPart>
        </mc:Choice>
        <mc:Fallback xmlns="">
          <p:pic>
            <p:nvPicPr>
              <p:cNvPr id="9" name="Ink 8">
                <a:extLst>
                  <a:ext uri="{FF2B5EF4-FFF2-40B4-BE49-F238E27FC236}">
                    <a16:creationId xmlns:a16="http://schemas.microsoft.com/office/drawing/2014/main" id="{8391FE60-8165-F733-883F-653B0440F61C}"/>
                  </a:ext>
                </a:extLst>
              </p:cNvPr>
              <p:cNvPicPr/>
              <p:nvPr/>
            </p:nvPicPr>
            <p:blipFill>
              <a:blip r:embed="rId6"/>
              <a:stretch>
                <a:fillRect/>
              </a:stretch>
            </p:blipFill>
            <p:spPr>
              <a:xfrm>
                <a:off x="11566920" y="2320880"/>
                <a:ext cx="72000" cy="72000"/>
              </a:xfrm>
              <a:prstGeom prst="rect">
                <a:avLst/>
              </a:prstGeom>
            </p:spPr>
          </p:pic>
        </mc:Fallback>
      </mc:AlternateContent>
      <p:grpSp>
        <p:nvGrpSpPr>
          <p:cNvPr id="17" name="Group 16">
            <a:extLst>
              <a:ext uri="{FF2B5EF4-FFF2-40B4-BE49-F238E27FC236}">
                <a16:creationId xmlns:a16="http://schemas.microsoft.com/office/drawing/2014/main" id="{F687D1DA-5519-EA97-54E1-4B34F02681EA}"/>
              </a:ext>
            </a:extLst>
          </p:cNvPr>
          <p:cNvGrpSpPr/>
          <p:nvPr/>
        </p:nvGrpSpPr>
        <p:grpSpPr>
          <a:xfrm>
            <a:off x="9898680" y="2030720"/>
            <a:ext cx="1081440" cy="383760"/>
            <a:chOff x="9898680" y="2030720"/>
            <a:chExt cx="1081440" cy="383760"/>
          </a:xfrm>
        </p:grpSpPr>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D111FEC6-268F-4E74-7336-F7811A510E3D}"/>
                    </a:ext>
                  </a:extLst>
                </p14:cNvPr>
                <p14:cNvContentPartPr/>
                <p14:nvPr/>
              </p14:nvContentPartPr>
              <p14:xfrm>
                <a:off x="9936480" y="2153480"/>
                <a:ext cx="360" cy="360"/>
              </p14:xfrm>
            </p:contentPart>
          </mc:Choice>
          <mc:Fallback xmlns="">
            <p:pic>
              <p:nvPicPr>
                <p:cNvPr id="11" name="Ink 10">
                  <a:extLst>
                    <a:ext uri="{FF2B5EF4-FFF2-40B4-BE49-F238E27FC236}">
                      <a16:creationId xmlns:a16="http://schemas.microsoft.com/office/drawing/2014/main" id="{D111FEC6-268F-4E74-7336-F7811A510E3D}"/>
                    </a:ext>
                  </a:extLst>
                </p:cNvPr>
                <p:cNvPicPr/>
                <p:nvPr/>
              </p:nvPicPr>
              <p:blipFill>
                <a:blip r:embed="rId6"/>
                <a:stretch>
                  <a:fillRect/>
                </a:stretch>
              </p:blipFill>
              <p:spPr>
                <a:xfrm>
                  <a:off x="9900480" y="211784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2087E5CF-F32C-479D-1572-0BB177D394A4}"/>
                    </a:ext>
                  </a:extLst>
                </p14:cNvPr>
                <p14:cNvContentPartPr/>
                <p14:nvPr/>
              </p14:nvContentPartPr>
              <p14:xfrm>
                <a:off x="10078680" y="2234840"/>
                <a:ext cx="360" cy="360"/>
              </p14:xfrm>
            </p:contentPart>
          </mc:Choice>
          <mc:Fallback xmlns="">
            <p:pic>
              <p:nvPicPr>
                <p:cNvPr id="12" name="Ink 11">
                  <a:extLst>
                    <a:ext uri="{FF2B5EF4-FFF2-40B4-BE49-F238E27FC236}">
                      <a16:creationId xmlns:a16="http://schemas.microsoft.com/office/drawing/2014/main" id="{2087E5CF-F32C-479D-1572-0BB177D394A4}"/>
                    </a:ext>
                  </a:extLst>
                </p:cNvPr>
                <p:cNvPicPr/>
                <p:nvPr/>
              </p:nvPicPr>
              <p:blipFill>
                <a:blip r:embed="rId6"/>
                <a:stretch>
                  <a:fillRect/>
                </a:stretch>
              </p:blipFill>
              <p:spPr>
                <a:xfrm>
                  <a:off x="10042680" y="219884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EA4F288E-5179-E1BD-BAFE-F2813BA7A739}"/>
                    </a:ext>
                  </a:extLst>
                </p14:cNvPr>
                <p14:cNvContentPartPr/>
                <p14:nvPr/>
              </p14:nvContentPartPr>
              <p14:xfrm>
                <a:off x="10007040" y="2234840"/>
                <a:ext cx="360" cy="360"/>
              </p14:xfrm>
            </p:contentPart>
          </mc:Choice>
          <mc:Fallback xmlns="">
            <p:pic>
              <p:nvPicPr>
                <p:cNvPr id="13" name="Ink 12">
                  <a:extLst>
                    <a:ext uri="{FF2B5EF4-FFF2-40B4-BE49-F238E27FC236}">
                      <a16:creationId xmlns:a16="http://schemas.microsoft.com/office/drawing/2014/main" id="{EA4F288E-5179-E1BD-BAFE-F2813BA7A739}"/>
                    </a:ext>
                  </a:extLst>
                </p:cNvPr>
                <p:cNvPicPr/>
                <p:nvPr/>
              </p:nvPicPr>
              <p:blipFill>
                <a:blip r:embed="rId6"/>
                <a:stretch>
                  <a:fillRect/>
                </a:stretch>
              </p:blipFill>
              <p:spPr>
                <a:xfrm>
                  <a:off x="9971400" y="219884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6" name="Ink 15">
                  <a:extLst>
                    <a:ext uri="{FF2B5EF4-FFF2-40B4-BE49-F238E27FC236}">
                      <a16:creationId xmlns:a16="http://schemas.microsoft.com/office/drawing/2014/main" id="{E16D40D5-4C40-EA2A-1A24-CC9D9C1DB60C}"/>
                    </a:ext>
                  </a:extLst>
                </p14:cNvPr>
                <p14:cNvContentPartPr/>
                <p14:nvPr/>
              </p14:nvContentPartPr>
              <p14:xfrm>
                <a:off x="9898680" y="2030720"/>
                <a:ext cx="1081440" cy="383760"/>
              </p14:xfrm>
            </p:contentPart>
          </mc:Choice>
          <mc:Fallback xmlns="">
            <p:pic>
              <p:nvPicPr>
                <p:cNvPr id="16" name="Ink 15">
                  <a:extLst>
                    <a:ext uri="{FF2B5EF4-FFF2-40B4-BE49-F238E27FC236}">
                      <a16:creationId xmlns:a16="http://schemas.microsoft.com/office/drawing/2014/main" id="{E16D40D5-4C40-EA2A-1A24-CC9D9C1DB60C}"/>
                    </a:ext>
                  </a:extLst>
                </p:cNvPr>
                <p:cNvPicPr/>
                <p:nvPr/>
              </p:nvPicPr>
              <p:blipFill>
                <a:blip r:embed="rId11"/>
                <a:stretch>
                  <a:fillRect/>
                </a:stretch>
              </p:blipFill>
              <p:spPr>
                <a:xfrm>
                  <a:off x="9863040" y="1994720"/>
                  <a:ext cx="1153080" cy="455400"/>
                </a:xfrm>
                <a:prstGeom prst="rect">
                  <a:avLst/>
                </a:prstGeom>
              </p:spPr>
            </p:pic>
          </mc:Fallback>
        </mc:AlternateContent>
      </p:grpSp>
      <p:cxnSp>
        <p:nvCxnSpPr>
          <p:cNvPr id="19" name="Straight Connector 18">
            <a:extLst>
              <a:ext uri="{FF2B5EF4-FFF2-40B4-BE49-F238E27FC236}">
                <a16:creationId xmlns:a16="http://schemas.microsoft.com/office/drawing/2014/main" id="{96A9D327-22AD-FD6F-B3A6-7068D9704A40}"/>
              </a:ext>
            </a:extLst>
          </p:cNvPr>
          <p:cNvCxnSpPr/>
          <p:nvPr/>
        </p:nvCxnSpPr>
        <p:spPr>
          <a:xfrm>
            <a:off x="1465580" y="1000708"/>
            <a:ext cx="1808480"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3315909-183D-DE71-1333-8030A1053C30}"/>
              </a:ext>
            </a:extLst>
          </p:cNvPr>
          <p:cNvSpPr txBox="1"/>
          <p:nvPr/>
        </p:nvSpPr>
        <p:spPr>
          <a:xfrm>
            <a:off x="9743492" y="2081080"/>
            <a:ext cx="1137920" cy="230832"/>
          </a:xfrm>
          <a:prstGeom prst="rect">
            <a:avLst/>
          </a:prstGeom>
          <a:noFill/>
        </p:spPr>
        <p:txBody>
          <a:bodyPr wrap="square">
            <a:spAutoFit/>
          </a:bodyPr>
          <a:lstStyle/>
          <a:p>
            <a:r>
              <a:rPr lang="en-IN" sz="900" b="1" dirty="0"/>
              <a:t>Sigmoid</a:t>
            </a:r>
          </a:p>
        </p:txBody>
      </p:sp>
      <p:grpSp>
        <p:nvGrpSpPr>
          <p:cNvPr id="53" name="Group 52">
            <a:extLst>
              <a:ext uri="{FF2B5EF4-FFF2-40B4-BE49-F238E27FC236}">
                <a16:creationId xmlns:a16="http://schemas.microsoft.com/office/drawing/2014/main" id="{61874D02-3160-1AAB-8C93-4DEEBD6D1824}"/>
              </a:ext>
            </a:extLst>
          </p:cNvPr>
          <p:cNvGrpSpPr/>
          <p:nvPr/>
        </p:nvGrpSpPr>
        <p:grpSpPr>
          <a:xfrm>
            <a:off x="6543120" y="1625360"/>
            <a:ext cx="43923" cy="63720"/>
            <a:chOff x="6543120" y="1625360"/>
            <a:chExt cx="43923" cy="63720"/>
          </a:xfrm>
        </p:grpSpPr>
        <mc:AlternateContent xmlns:mc="http://schemas.openxmlformats.org/markup-compatibility/2006" xmlns:p14="http://schemas.microsoft.com/office/powerpoint/2010/main">
          <mc:Choice Requires="p14">
            <p:contentPart p14:bwMode="auto" r:id="rId12">
              <p14:nvContentPartPr>
                <p14:cNvPr id="22" name="Ink 21">
                  <a:extLst>
                    <a:ext uri="{FF2B5EF4-FFF2-40B4-BE49-F238E27FC236}">
                      <a16:creationId xmlns:a16="http://schemas.microsoft.com/office/drawing/2014/main" id="{7531CA0C-046B-C32F-4FF2-630A055A9379}"/>
                    </a:ext>
                  </a:extLst>
                </p14:cNvPr>
                <p14:cNvContentPartPr/>
                <p14:nvPr/>
              </p14:nvContentPartPr>
              <p14:xfrm>
                <a:off x="6573720" y="1666400"/>
                <a:ext cx="360" cy="360"/>
              </p14:xfrm>
            </p:contentPart>
          </mc:Choice>
          <mc:Fallback xmlns="">
            <p:pic>
              <p:nvPicPr>
                <p:cNvPr id="22" name="Ink 21">
                  <a:extLst>
                    <a:ext uri="{FF2B5EF4-FFF2-40B4-BE49-F238E27FC236}">
                      <a16:creationId xmlns:a16="http://schemas.microsoft.com/office/drawing/2014/main" id="{7531CA0C-046B-C32F-4FF2-630A055A9379}"/>
                    </a:ext>
                  </a:extLst>
                </p:cNvPr>
                <p:cNvPicPr/>
                <p:nvPr/>
              </p:nvPicPr>
              <p:blipFill>
                <a:blip r:embed="rId13"/>
                <a:stretch>
                  <a:fillRect/>
                </a:stretch>
              </p:blipFill>
              <p:spPr>
                <a:xfrm>
                  <a:off x="6569400" y="166208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3" name="Ink 22">
                  <a:extLst>
                    <a:ext uri="{FF2B5EF4-FFF2-40B4-BE49-F238E27FC236}">
                      <a16:creationId xmlns:a16="http://schemas.microsoft.com/office/drawing/2014/main" id="{16465991-C139-CF29-5999-1FFE087ABE99}"/>
                    </a:ext>
                  </a:extLst>
                </p14:cNvPr>
                <p14:cNvContentPartPr/>
                <p14:nvPr/>
              </p14:nvContentPartPr>
              <p14:xfrm>
                <a:off x="6573720" y="1666400"/>
                <a:ext cx="360" cy="360"/>
              </p14:xfrm>
            </p:contentPart>
          </mc:Choice>
          <mc:Fallback xmlns="">
            <p:pic>
              <p:nvPicPr>
                <p:cNvPr id="23" name="Ink 22">
                  <a:extLst>
                    <a:ext uri="{FF2B5EF4-FFF2-40B4-BE49-F238E27FC236}">
                      <a16:creationId xmlns:a16="http://schemas.microsoft.com/office/drawing/2014/main" id="{16465991-C139-CF29-5999-1FFE087ABE99}"/>
                    </a:ext>
                  </a:extLst>
                </p:cNvPr>
                <p:cNvPicPr/>
                <p:nvPr/>
              </p:nvPicPr>
              <p:blipFill>
                <a:blip r:embed="rId13"/>
                <a:stretch>
                  <a:fillRect/>
                </a:stretch>
              </p:blipFill>
              <p:spPr>
                <a:xfrm>
                  <a:off x="6569400" y="166208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4" name="Ink 23">
                  <a:extLst>
                    <a:ext uri="{FF2B5EF4-FFF2-40B4-BE49-F238E27FC236}">
                      <a16:creationId xmlns:a16="http://schemas.microsoft.com/office/drawing/2014/main" id="{5AA59A7B-9FE5-DD1D-C5DD-111D2DB300EC}"/>
                    </a:ext>
                  </a:extLst>
                </p14:cNvPr>
                <p14:cNvContentPartPr/>
                <p14:nvPr/>
              </p14:nvContentPartPr>
              <p14:xfrm>
                <a:off x="6573720" y="1666400"/>
                <a:ext cx="360" cy="360"/>
              </p14:xfrm>
            </p:contentPart>
          </mc:Choice>
          <mc:Fallback xmlns="">
            <p:pic>
              <p:nvPicPr>
                <p:cNvPr id="24" name="Ink 23">
                  <a:extLst>
                    <a:ext uri="{FF2B5EF4-FFF2-40B4-BE49-F238E27FC236}">
                      <a16:creationId xmlns:a16="http://schemas.microsoft.com/office/drawing/2014/main" id="{5AA59A7B-9FE5-DD1D-C5DD-111D2DB300EC}"/>
                    </a:ext>
                  </a:extLst>
                </p:cNvPr>
                <p:cNvPicPr/>
                <p:nvPr/>
              </p:nvPicPr>
              <p:blipFill>
                <a:blip r:embed="rId13"/>
                <a:stretch>
                  <a:fillRect/>
                </a:stretch>
              </p:blipFill>
              <p:spPr>
                <a:xfrm>
                  <a:off x="6569400" y="166208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BDA7455A-2DA7-7E71-6EC9-4EA26AFF6D94}"/>
                    </a:ext>
                  </a:extLst>
                </p14:cNvPr>
                <p14:cNvContentPartPr/>
                <p14:nvPr/>
              </p14:nvContentPartPr>
              <p14:xfrm>
                <a:off x="6573720" y="1625360"/>
                <a:ext cx="360" cy="360"/>
              </p14:xfrm>
            </p:contentPart>
          </mc:Choice>
          <mc:Fallback xmlns="">
            <p:pic>
              <p:nvPicPr>
                <p:cNvPr id="26" name="Ink 25">
                  <a:extLst>
                    <a:ext uri="{FF2B5EF4-FFF2-40B4-BE49-F238E27FC236}">
                      <a16:creationId xmlns:a16="http://schemas.microsoft.com/office/drawing/2014/main" id="{BDA7455A-2DA7-7E71-6EC9-4EA26AFF6D94}"/>
                    </a:ext>
                  </a:extLst>
                </p:cNvPr>
                <p:cNvPicPr/>
                <p:nvPr/>
              </p:nvPicPr>
              <p:blipFill>
                <a:blip r:embed="rId13"/>
                <a:stretch>
                  <a:fillRect/>
                </a:stretch>
              </p:blipFill>
              <p:spPr>
                <a:xfrm>
                  <a:off x="6569400" y="162104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7" name="Ink 26">
                  <a:extLst>
                    <a:ext uri="{FF2B5EF4-FFF2-40B4-BE49-F238E27FC236}">
                      <a16:creationId xmlns:a16="http://schemas.microsoft.com/office/drawing/2014/main" id="{51A04EC8-3E00-EADE-D076-0694F1ADE688}"/>
                    </a:ext>
                  </a:extLst>
                </p14:cNvPr>
                <p14:cNvContentPartPr/>
                <p14:nvPr/>
              </p14:nvContentPartPr>
              <p14:xfrm>
                <a:off x="6573720" y="1625360"/>
                <a:ext cx="360" cy="360"/>
              </p14:xfrm>
            </p:contentPart>
          </mc:Choice>
          <mc:Fallback xmlns="">
            <p:pic>
              <p:nvPicPr>
                <p:cNvPr id="27" name="Ink 26">
                  <a:extLst>
                    <a:ext uri="{FF2B5EF4-FFF2-40B4-BE49-F238E27FC236}">
                      <a16:creationId xmlns:a16="http://schemas.microsoft.com/office/drawing/2014/main" id="{51A04EC8-3E00-EADE-D076-0694F1ADE688}"/>
                    </a:ext>
                  </a:extLst>
                </p:cNvPr>
                <p:cNvPicPr/>
                <p:nvPr/>
              </p:nvPicPr>
              <p:blipFill>
                <a:blip r:embed="rId13"/>
                <a:stretch>
                  <a:fillRect/>
                </a:stretch>
              </p:blipFill>
              <p:spPr>
                <a:xfrm>
                  <a:off x="6569400" y="162104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8" name="Ink 27">
                  <a:extLst>
                    <a:ext uri="{FF2B5EF4-FFF2-40B4-BE49-F238E27FC236}">
                      <a16:creationId xmlns:a16="http://schemas.microsoft.com/office/drawing/2014/main" id="{C0CC9EF8-B8B9-8742-D7C7-589226349452}"/>
                    </a:ext>
                  </a:extLst>
                </p14:cNvPr>
                <p14:cNvContentPartPr/>
                <p14:nvPr/>
              </p14:nvContentPartPr>
              <p14:xfrm>
                <a:off x="6552480" y="1625360"/>
                <a:ext cx="21600" cy="63720"/>
              </p14:xfrm>
            </p:contentPart>
          </mc:Choice>
          <mc:Fallback xmlns="">
            <p:pic>
              <p:nvPicPr>
                <p:cNvPr id="28" name="Ink 27">
                  <a:extLst>
                    <a:ext uri="{FF2B5EF4-FFF2-40B4-BE49-F238E27FC236}">
                      <a16:creationId xmlns:a16="http://schemas.microsoft.com/office/drawing/2014/main" id="{C0CC9EF8-B8B9-8742-D7C7-589226349452}"/>
                    </a:ext>
                  </a:extLst>
                </p:cNvPr>
                <p:cNvPicPr/>
                <p:nvPr/>
              </p:nvPicPr>
              <p:blipFill>
                <a:blip r:embed="rId19"/>
                <a:stretch>
                  <a:fillRect/>
                </a:stretch>
              </p:blipFill>
              <p:spPr>
                <a:xfrm>
                  <a:off x="6548160" y="1621040"/>
                  <a:ext cx="3024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9" name="Ink 28">
                  <a:extLst>
                    <a:ext uri="{FF2B5EF4-FFF2-40B4-BE49-F238E27FC236}">
                      <a16:creationId xmlns:a16="http://schemas.microsoft.com/office/drawing/2014/main" id="{B1839EF6-D40D-DDDA-B3E8-CEDFA6702627}"/>
                    </a:ext>
                  </a:extLst>
                </p14:cNvPr>
                <p14:cNvContentPartPr/>
                <p14:nvPr/>
              </p14:nvContentPartPr>
              <p14:xfrm>
                <a:off x="6552840" y="1645520"/>
                <a:ext cx="360" cy="360"/>
              </p14:xfrm>
            </p:contentPart>
          </mc:Choice>
          <mc:Fallback xmlns="">
            <p:pic>
              <p:nvPicPr>
                <p:cNvPr id="29" name="Ink 28">
                  <a:extLst>
                    <a:ext uri="{FF2B5EF4-FFF2-40B4-BE49-F238E27FC236}">
                      <a16:creationId xmlns:a16="http://schemas.microsoft.com/office/drawing/2014/main" id="{B1839EF6-D40D-DDDA-B3E8-CEDFA6702627}"/>
                    </a:ext>
                  </a:extLst>
                </p:cNvPr>
                <p:cNvPicPr/>
                <p:nvPr/>
              </p:nvPicPr>
              <p:blipFill>
                <a:blip r:embed="rId13"/>
                <a:stretch>
                  <a:fillRect/>
                </a:stretch>
              </p:blipFill>
              <p:spPr>
                <a:xfrm>
                  <a:off x="6548520" y="164120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0" name="Ink 29">
                  <a:extLst>
                    <a:ext uri="{FF2B5EF4-FFF2-40B4-BE49-F238E27FC236}">
                      <a16:creationId xmlns:a16="http://schemas.microsoft.com/office/drawing/2014/main" id="{5F59E939-4D0A-189E-9FE9-61EBD7867D9E}"/>
                    </a:ext>
                  </a:extLst>
                </p14:cNvPr>
                <p14:cNvContentPartPr/>
                <p14:nvPr/>
              </p14:nvContentPartPr>
              <p14:xfrm>
                <a:off x="6552840" y="1645520"/>
                <a:ext cx="360" cy="360"/>
              </p14:xfrm>
            </p:contentPart>
          </mc:Choice>
          <mc:Fallback xmlns="">
            <p:pic>
              <p:nvPicPr>
                <p:cNvPr id="30" name="Ink 29">
                  <a:extLst>
                    <a:ext uri="{FF2B5EF4-FFF2-40B4-BE49-F238E27FC236}">
                      <a16:creationId xmlns:a16="http://schemas.microsoft.com/office/drawing/2014/main" id="{5F59E939-4D0A-189E-9FE9-61EBD7867D9E}"/>
                    </a:ext>
                  </a:extLst>
                </p:cNvPr>
                <p:cNvPicPr/>
                <p:nvPr/>
              </p:nvPicPr>
              <p:blipFill>
                <a:blip r:embed="rId13"/>
                <a:stretch>
                  <a:fillRect/>
                </a:stretch>
              </p:blipFill>
              <p:spPr>
                <a:xfrm>
                  <a:off x="6548520" y="164120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2" name="Ink 31">
                  <a:extLst>
                    <a:ext uri="{FF2B5EF4-FFF2-40B4-BE49-F238E27FC236}">
                      <a16:creationId xmlns:a16="http://schemas.microsoft.com/office/drawing/2014/main" id="{F13DECE3-9D13-558E-E969-F97FE2030246}"/>
                    </a:ext>
                  </a:extLst>
                </p14:cNvPr>
                <p14:cNvContentPartPr/>
                <p14:nvPr/>
              </p14:nvContentPartPr>
              <p14:xfrm>
                <a:off x="6543120" y="1655960"/>
                <a:ext cx="360" cy="360"/>
              </p14:xfrm>
            </p:contentPart>
          </mc:Choice>
          <mc:Fallback xmlns="">
            <p:pic>
              <p:nvPicPr>
                <p:cNvPr id="32" name="Ink 31">
                  <a:extLst>
                    <a:ext uri="{FF2B5EF4-FFF2-40B4-BE49-F238E27FC236}">
                      <a16:creationId xmlns:a16="http://schemas.microsoft.com/office/drawing/2014/main" id="{F13DECE3-9D13-558E-E969-F97FE2030246}"/>
                    </a:ext>
                  </a:extLst>
                </p:cNvPr>
                <p:cNvPicPr/>
                <p:nvPr/>
              </p:nvPicPr>
              <p:blipFill>
                <a:blip r:embed="rId13"/>
                <a:stretch>
                  <a:fillRect/>
                </a:stretch>
              </p:blipFill>
              <p:spPr>
                <a:xfrm>
                  <a:off x="6538800" y="165164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3" name="Ink 32">
                  <a:extLst>
                    <a:ext uri="{FF2B5EF4-FFF2-40B4-BE49-F238E27FC236}">
                      <a16:creationId xmlns:a16="http://schemas.microsoft.com/office/drawing/2014/main" id="{C40BEC7F-445D-1B38-FB7C-57165AF2CFD0}"/>
                    </a:ext>
                  </a:extLst>
                </p14:cNvPr>
                <p14:cNvContentPartPr/>
                <p14:nvPr/>
              </p14:nvContentPartPr>
              <p14:xfrm>
                <a:off x="6543120" y="1655960"/>
                <a:ext cx="360" cy="360"/>
              </p14:xfrm>
            </p:contentPart>
          </mc:Choice>
          <mc:Fallback xmlns="">
            <p:pic>
              <p:nvPicPr>
                <p:cNvPr id="33" name="Ink 32">
                  <a:extLst>
                    <a:ext uri="{FF2B5EF4-FFF2-40B4-BE49-F238E27FC236}">
                      <a16:creationId xmlns:a16="http://schemas.microsoft.com/office/drawing/2014/main" id="{C40BEC7F-445D-1B38-FB7C-57165AF2CFD0}"/>
                    </a:ext>
                  </a:extLst>
                </p:cNvPr>
                <p:cNvPicPr/>
                <p:nvPr/>
              </p:nvPicPr>
              <p:blipFill>
                <a:blip r:embed="rId13"/>
                <a:stretch>
                  <a:fillRect/>
                </a:stretch>
              </p:blipFill>
              <p:spPr>
                <a:xfrm>
                  <a:off x="6538800" y="165164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4" name="Ink 33">
                  <a:extLst>
                    <a:ext uri="{FF2B5EF4-FFF2-40B4-BE49-F238E27FC236}">
                      <a16:creationId xmlns:a16="http://schemas.microsoft.com/office/drawing/2014/main" id="{C8492A3E-0C04-6F27-C87E-C071323C62C5}"/>
                    </a:ext>
                  </a:extLst>
                </p14:cNvPr>
                <p14:cNvContentPartPr/>
                <p14:nvPr/>
              </p14:nvContentPartPr>
              <p14:xfrm>
                <a:off x="6543120" y="1655960"/>
                <a:ext cx="360" cy="360"/>
              </p14:xfrm>
            </p:contentPart>
          </mc:Choice>
          <mc:Fallback xmlns="">
            <p:pic>
              <p:nvPicPr>
                <p:cNvPr id="34" name="Ink 33">
                  <a:extLst>
                    <a:ext uri="{FF2B5EF4-FFF2-40B4-BE49-F238E27FC236}">
                      <a16:creationId xmlns:a16="http://schemas.microsoft.com/office/drawing/2014/main" id="{C8492A3E-0C04-6F27-C87E-C071323C62C5}"/>
                    </a:ext>
                  </a:extLst>
                </p:cNvPr>
                <p:cNvPicPr/>
                <p:nvPr/>
              </p:nvPicPr>
              <p:blipFill>
                <a:blip r:embed="rId13"/>
                <a:stretch>
                  <a:fillRect/>
                </a:stretch>
              </p:blipFill>
              <p:spPr>
                <a:xfrm>
                  <a:off x="6538800" y="165164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6" name="Ink 35">
                  <a:extLst>
                    <a:ext uri="{FF2B5EF4-FFF2-40B4-BE49-F238E27FC236}">
                      <a16:creationId xmlns:a16="http://schemas.microsoft.com/office/drawing/2014/main" id="{3AFC822B-59F5-23BD-7673-4B454DDA941B}"/>
                    </a:ext>
                  </a:extLst>
                </p14:cNvPr>
                <p14:cNvContentPartPr/>
                <p14:nvPr/>
              </p14:nvContentPartPr>
              <p14:xfrm>
                <a:off x="6573720" y="1676120"/>
                <a:ext cx="360" cy="360"/>
              </p14:xfrm>
            </p:contentPart>
          </mc:Choice>
          <mc:Fallback xmlns="">
            <p:pic>
              <p:nvPicPr>
                <p:cNvPr id="36" name="Ink 35">
                  <a:extLst>
                    <a:ext uri="{FF2B5EF4-FFF2-40B4-BE49-F238E27FC236}">
                      <a16:creationId xmlns:a16="http://schemas.microsoft.com/office/drawing/2014/main" id="{3AFC822B-59F5-23BD-7673-4B454DDA941B}"/>
                    </a:ext>
                  </a:extLst>
                </p:cNvPr>
                <p:cNvPicPr/>
                <p:nvPr/>
              </p:nvPicPr>
              <p:blipFill>
                <a:blip r:embed="rId13"/>
                <a:stretch>
                  <a:fillRect/>
                </a:stretch>
              </p:blipFill>
              <p:spPr>
                <a:xfrm>
                  <a:off x="6569400" y="167180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7" name="Ink 36">
                  <a:extLst>
                    <a:ext uri="{FF2B5EF4-FFF2-40B4-BE49-F238E27FC236}">
                      <a16:creationId xmlns:a16="http://schemas.microsoft.com/office/drawing/2014/main" id="{02F7810D-3555-A2E1-A652-1ACE82A5C147}"/>
                    </a:ext>
                  </a:extLst>
                </p14:cNvPr>
                <p14:cNvContentPartPr/>
                <p14:nvPr/>
              </p14:nvContentPartPr>
              <p14:xfrm>
                <a:off x="6573720" y="1676120"/>
                <a:ext cx="360" cy="360"/>
              </p14:xfrm>
            </p:contentPart>
          </mc:Choice>
          <mc:Fallback xmlns="">
            <p:pic>
              <p:nvPicPr>
                <p:cNvPr id="37" name="Ink 36">
                  <a:extLst>
                    <a:ext uri="{FF2B5EF4-FFF2-40B4-BE49-F238E27FC236}">
                      <a16:creationId xmlns:a16="http://schemas.microsoft.com/office/drawing/2014/main" id="{02F7810D-3555-A2E1-A652-1ACE82A5C147}"/>
                    </a:ext>
                  </a:extLst>
                </p:cNvPr>
                <p:cNvPicPr/>
                <p:nvPr/>
              </p:nvPicPr>
              <p:blipFill>
                <a:blip r:embed="rId13"/>
                <a:stretch>
                  <a:fillRect/>
                </a:stretch>
              </p:blipFill>
              <p:spPr>
                <a:xfrm>
                  <a:off x="6569400" y="167180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52" name="Ink 51">
                  <a:extLst>
                    <a:ext uri="{FF2B5EF4-FFF2-40B4-BE49-F238E27FC236}">
                      <a16:creationId xmlns:a16="http://schemas.microsoft.com/office/drawing/2014/main" id="{2DA07B54-15D9-8A24-8928-BC0D20C4AD9D}"/>
                    </a:ext>
                  </a:extLst>
                </p14:cNvPr>
                <p14:cNvContentPartPr/>
                <p14:nvPr/>
              </p14:nvContentPartPr>
              <p14:xfrm>
                <a:off x="6554643" y="1634930"/>
                <a:ext cx="32400" cy="46800"/>
              </p14:xfrm>
            </p:contentPart>
          </mc:Choice>
          <mc:Fallback xmlns="">
            <p:pic>
              <p:nvPicPr>
                <p:cNvPr id="52" name="Ink 51">
                  <a:extLst>
                    <a:ext uri="{FF2B5EF4-FFF2-40B4-BE49-F238E27FC236}">
                      <a16:creationId xmlns:a16="http://schemas.microsoft.com/office/drawing/2014/main" id="{2DA07B54-15D9-8A24-8928-BC0D20C4AD9D}"/>
                    </a:ext>
                  </a:extLst>
                </p:cNvPr>
                <p:cNvPicPr/>
                <p:nvPr/>
              </p:nvPicPr>
              <p:blipFill>
                <a:blip r:embed="rId28"/>
                <a:stretch>
                  <a:fillRect/>
                </a:stretch>
              </p:blipFill>
              <p:spPr>
                <a:xfrm>
                  <a:off x="6536643" y="1617290"/>
                  <a:ext cx="68040" cy="82440"/>
                </a:xfrm>
                <a:prstGeom prst="rect">
                  <a:avLst/>
                </a:prstGeom>
              </p:spPr>
            </p:pic>
          </mc:Fallback>
        </mc:AlternateContent>
      </p:grpSp>
      <p:sp>
        <p:nvSpPr>
          <p:cNvPr id="54" name="TextBox 53">
            <a:extLst>
              <a:ext uri="{FF2B5EF4-FFF2-40B4-BE49-F238E27FC236}">
                <a16:creationId xmlns:a16="http://schemas.microsoft.com/office/drawing/2014/main" id="{23FA7876-DCD9-C474-6A96-A12F1634D8BB}"/>
              </a:ext>
            </a:extLst>
          </p:cNvPr>
          <p:cNvSpPr txBox="1"/>
          <p:nvPr/>
        </p:nvSpPr>
        <p:spPr>
          <a:xfrm>
            <a:off x="6451600" y="1558678"/>
            <a:ext cx="567267" cy="215444"/>
          </a:xfrm>
          <a:prstGeom prst="rect">
            <a:avLst/>
          </a:prstGeom>
          <a:noFill/>
        </p:spPr>
        <p:txBody>
          <a:bodyPr wrap="square" rtlCol="0">
            <a:spAutoFit/>
          </a:bodyPr>
          <a:lstStyle/>
          <a:p>
            <a:r>
              <a:rPr lang="en-IN" sz="800" b="1" dirty="0">
                <a:solidFill>
                  <a:srgbClr val="FF0000"/>
                </a:solidFill>
              </a:rPr>
              <a:t>1</a:t>
            </a:r>
          </a:p>
        </p:txBody>
      </p:sp>
      <p:sp>
        <p:nvSpPr>
          <p:cNvPr id="56" name="TextBox 55">
            <a:extLst>
              <a:ext uri="{FF2B5EF4-FFF2-40B4-BE49-F238E27FC236}">
                <a16:creationId xmlns:a16="http://schemas.microsoft.com/office/drawing/2014/main" id="{4580FB1E-96C9-D76D-A98F-886CECAEFA21}"/>
              </a:ext>
            </a:extLst>
          </p:cNvPr>
          <p:cNvSpPr txBox="1"/>
          <p:nvPr/>
        </p:nvSpPr>
        <p:spPr>
          <a:xfrm>
            <a:off x="9049225" y="2960303"/>
            <a:ext cx="694267" cy="215444"/>
          </a:xfrm>
          <a:prstGeom prst="rect">
            <a:avLst/>
          </a:prstGeom>
          <a:noFill/>
        </p:spPr>
        <p:txBody>
          <a:bodyPr wrap="square" rtlCol="0">
            <a:spAutoFit/>
          </a:bodyPr>
          <a:lstStyle/>
          <a:p>
            <a:r>
              <a:rPr lang="en-IN" sz="800" b="1" dirty="0">
                <a:solidFill>
                  <a:srgbClr val="FF0000"/>
                </a:solidFill>
              </a:rPr>
              <a:t>2</a:t>
            </a:r>
          </a:p>
        </p:txBody>
      </p:sp>
      <p:sp>
        <p:nvSpPr>
          <p:cNvPr id="58" name="TextBox 57">
            <a:extLst>
              <a:ext uri="{FF2B5EF4-FFF2-40B4-BE49-F238E27FC236}">
                <a16:creationId xmlns:a16="http://schemas.microsoft.com/office/drawing/2014/main" id="{90E0023A-9008-0A9D-7CD7-CED919B64034}"/>
              </a:ext>
            </a:extLst>
          </p:cNvPr>
          <p:cNvSpPr txBox="1"/>
          <p:nvPr/>
        </p:nvSpPr>
        <p:spPr>
          <a:xfrm>
            <a:off x="631021" y="2006196"/>
            <a:ext cx="5177198" cy="3539430"/>
          </a:xfrm>
          <a:prstGeom prst="rect">
            <a:avLst/>
          </a:prstGeom>
          <a:noFill/>
        </p:spPr>
        <p:txBody>
          <a:bodyPr wrap="square" rtlCol="0">
            <a:spAutoFit/>
          </a:bodyPr>
          <a:lstStyle/>
          <a:p>
            <a:pPr marL="285750" indent="-285750">
              <a:buFont typeface="Arial" panose="020B0604020202020204" pitchFamily="34" charset="0"/>
              <a:buChar char="•"/>
            </a:pPr>
            <a:r>
              <a:rPr lang="en-US" sz="1400" dirty="0"/>
              <a:t>VGG16 comprises 13 convolutional layers followed by fully connected layers. Each convolutional layer applies learnable filters to the input image, producing multiple feature maps capturing diverse aspects through element-wise multiplication and summation</a:t>
            </a:r>
          </a:p>
          <a:p>
            <a:endParaRPr lang="en-US" sz="1400" dirty="0"/>
          </a:p>
          <a:p>
            <a:endParaRPr lang="en-US" sz="1400" dirty="0"/>
          </a:p>
          <a:p>
            <a:pPr marL="285750" indent="-285750">
              <a:buFont typeface="Arial" panose="020B0604020202020204" pitchFamily="34" charset="0"/>
              <a:buChar char="•"/>
            </a:pPr>
            <a:r>
              <a:rPr lang="en-US" sz="1400" b="1" dirty="0"/>
              <a:t>Deep Architecture</a:t>
            </a:r>
            <a:r>
              <a:rPr lang="en-US" sz="1400" dirty="0"/>
              <a:t>: VGG16, with its 16 layers, effectively learns complex features and captures intricate patterns and details in medical images.</a:t>
            </a:r>
          </a:p>
          <a:p>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b="1" dirty="0"/>
              <a:t>Feature Extraction</a:t>
            </a:r>
            <a:r>
              <a:rPr lang="en-US" sz="1400" dirty="0"/>
              <a:t>: VGG16's sequential convolutional and fully connected layers effectively extract informative features,</a:t>
            </a:r>
            <a:r>
              <a:rPr lang="en-IN" sz="1400" dirty="0"/>
              <a:t> including edge patterns,</a:t>
            </a:r>
            <a:r>
              <a:rPr lang="en-US" sz="1400" dirty="0"/>
              <a:t> aiding in distinguishing different brain conditions or abnormalities</a:t>
            </a:r>
            <a:endParaRPr lang="en-IN" sz="1400" dirty="0"/>
          </a:p>
        </p:txBody>
      </p:sp>
      <p:pic>
        <p:nvPicPr>
          <p:cNvPr id="73" name="Picture 72">
            <a:extLst>
              <a:ext uri="{FF2B5EF4-FFF2-40B4-BE49-F238E27FC236}">
                <a16:creationId xmlns:a16="http://schemas.microsoft.com/office/drawing/2014/main" id="{E0DC80F6-0ACA-2716-A603-DD3993F8F4FE}"/>
              </a:ext>
            </a:extLst>
          </p:cNvPr>
          <p:cNvPicPr>
            <a:picLocks noChangeAspect="1"/>
          </p:cNvPicPr>
          <p:nvPr/>
        </p:nvPicPr>
        <p:blipFill>
          <a:blip r:embed="rId29">
            <a:extLst>
              <a:ext uri="{837473B0-CC2E-450A-ABE3-18F120FF3D39}">
                <a1611:picAttrSrcUrl xmlns:a1611="http://schemas.microsoft.com/office/drawing/2016/11/main" r:id="rId30"/>
              </a:ext>
            </a:extLst>
          </a:blip>
          <a:stretch>
            <a:fillRect/>
          </a:stretch>
        </p:blipFill>
        <p:spPr>
          <a:xfrm>
            <a:off x="402143" y="462613"/>
            <a:ext cx="905956" cy="678482"/>
          </a:xfrm>
          <a:prstGeom prst="rect">
            <a:avLst/>
          </a:prstGeom>
        </p:spPr>
      </p:pic>
      <p:sp>
        <p:nvSpPr>
          <p:cNvPr id="10" name="TextBox 9">
            <a:extLst>
              <a:ext uri="{FF2B5EF4-FFF2-40B4-BE49-F238E27FC236}">
                <a16:creationId xmlns:a16="http://schemas.microsoft.com/office/drawing/2014/main" id="{EDBF3040-AF79-3A62-9AE0-E7F6BA2634B2}"/>
              </a:ext>
            </a:extLst>
          </p:cNvPr>
          <p:cNvSpPr txBox="1"/>
          <p:nvPr/>
        </p:nvSpPr>
        <p:spPr>
          <a:xfrm>
            <a:off x="2042596" y="6050401"/>
            <a:ext cx="6197600" cy="369332"/>
          </a:xfrm>
          <a:prstGeom prst="rect">
            <a:avLst/>
          </a:prstGeom>
          <a:noFill/>
        </p:spPr>
        <p:txBody>
          <a:bodyPr wrap="square">
            <a:spAutoFit/>
          </a:bodyPr>
          <a:lstStyle/>
          <a:p>
            <a:r>
              <a:rPr lang="en-IN" u="sng" dirty="0"/>
              <a:t> </a:t>
            </a:r>
          </a:p>
        </p:txBody>
      </p:sp>
    </p:spTree>
    <p:extLst>
      <p:ext uri="{BB962C8B-B14F-4D97-AF65-F5344CB8AC3E}">
        <p14:creationId xmlns:p14="http://schemas.microsoft.com/office/powerpoint/2010/main" val="1384834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extBox 59">
            <a:extLst>
              <a:ext uri="{FF2B5EF4-FFF2-40B4-BE49-F238E27FC236}">
                <a16:creationId xmlns:a16="http://schemas.microsoft.com/office/drawing/2014/main" id="{814BD9E0-4F98-D236-B3E5-E7271D121BE1}"/>
              </a:ext>
            </a:extLst>
          </p:cNvPr>
          <p:cNvSpPr txBox="1"/>
          <p:nvPr/>
        </p:nvSpPr>
        <p:spPr>
          <a:xfrm>
            <a:off x="483832" y="952977"/>
            <a:ext cx="5028934" cy="1600438"/>
          </a:xfrm>
          <a:prstGeom prst="rect">
            <a:avLst/>
          </a:prstGeom>
          <a:noFill/>
        </p:spPr>
        <p:txBody>
          <a:bodyPr wrap="square" rtlCol="0">
            <a:spAutoFit/>
          </a:bodyPr>
          <a:lstStyle/>
          <a:p>
            <a:endParaRPr lang="en-US" sz="1400" dirty="0"/>
          </a:p>
          <a:p>
            <a:pPr marL="285750" indent="-285750">
              <a:buFont typeface="Arial" panose="020B0604020202020204" pitchFamily="34" charset="0"/>
              <a:buChar char="•"/>
            </a:pPr>
            <a:r>
              <a:rPr lang="en-US" sz="1400" dirty="0"/>
              <a:t>In a Conv2D layer, filters (or kernels) slide over the input data, performing a convolution operation. This involves multiplying the filter weights with the input data and summing the results, capturing local patterns or features in the input data such as edges, textures, and shapes etc.</a:t>
            </a:r>
          </a:p>
          <a:p>
            <a:pPr marL="285750" indent="-285750">
              <a:buFont typeface="Arial" panose="020B0604020202020204" pitchFamily="34" charset="0"/>
              <a:buChar char="•"/>
            </a:pPr>
            <a:endParaRPr lang="en-IN" sz="1400" dirty="0"/>
          </a:p>
        </p:txBody>
      </p:sp>
      <p:pic>
        <p:nvPicPr>
          <p:cNvPr id="6" name="Picture 5">
            <a:extLst>
              <a:ext uri="{FF2B5EF4-FFF2-40B4-BE49-F238E27FC236}">
                <a16:creationId xmlns:a16="http://schemas.microsoft.com/office/drawing/2014/main" id="{E0F58F58-B864-9C68-CC0C-7F6BCF50CD99}"/>
              </a:ext>
            </a:extLst>
          </p:cNvPr>
          <p:cNvPicPr>
            <a:picLocks noChangeAspect="1"/>
          </p:cNvPicPr>
          <p:nvPr/>
        </p:nvPicPr>
        <p:blipFill>
          <a:blip r:embed="rId2"/>
          <a:stretch>
            <a:fillRect/>
          </a:stretch>
        </p:blipFill>
        <p:spPr>
          <a:xfrm>
            <a:off x="1368552" y="3199229"/>
            <a:ext cx="2686979" cy="1278563"/>
          </a:xfrm>
          <a:prstGeom prst="rect">
            <a:avLst/>
          </a:prstGeom>
        </p:spPr>
      </p:pic>
      <p:pic>
        <p:nvPicPr>
          <p:cNvPr id="3" name="Picture 2">
            <a:extLst>
              <a:ext uri="{FF2B5EF4-FFF2-40B4-BE49-F238E27FC236}">
                <a16:creationId xmlns:a16="http://schemas.microsoft.com/office/drawing/2014/main" id="{A7305289-6DA3-CA84-0266-8018C0605984}"/>
              </a:ext>
            </a:extLst>
          </p:cNvPr>
          <p:cNvPicPr>
            <a:picLocks noChangeAspect="1"/>
          </p:cNvPicPr>
          <p:nvPr/>
        </p:nvPicPr>
        <p:blipFill>
          <a:blip r:embed="rId3"/>
          <a:stretch>
            <a:fillRect/>
          </a:stretch>
        </p:blipFill>
        <p:spPr>
          <a:xfrm>
            <a:off x="6900333" y="650858"/>
            <a:ext cx="4807835" cy="4683142"/>
          </a:xfrm>
          <a:prstGeom prst="rect">
            <a:avLst/>
          </a:prstGeom>
        </p:spPr>
      </p:pic>
    </p:spTree>
    <p:extLst>
      <p:ext uri="{BB962C8B-B14F-4D97-AF65-F5344CB8AC3E}">
        <p14:creationId xmlns:p14="http://schemas.microsoft.com/office/powerpoint/2010/main" val="4175346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B95C99-AA6A-E06A-E7BC-0B10771EF003}"/>
              </a:ext>
            </a:extLst>
          </p:cNvPr>
          <p:cNvSpPr txBox="1"/>
          <p:nvPr/>
        </p:nvSpPr>
        <p:spPr>
          <a:xfrm flipV="1">
            <a:off x="1427480" y="1565800"/>
            <a:ext cx="6182360" cy="215444"/>
          </a:xfrm>
          <a:prstGeom prst="rect">
            <a:avLst/>
          </a:prstGeom>
          <a:noFill/>
        </p:spPr>
        <p:txBody>
          <a:bodyPr wrap="square">
            <a:spAutoFit/>
          </a:bodyPr>
          <a:lstStyle/>
          <a:p>
            <a:r>
              <a:rPr lang="en-IN" sz="800" dirty="0"/>
              <a:t> </a:t>
            </a:r>
          </a:p>
        </p:txBody>
      </p:sp>
      <p:sp>
        <p:nvSpPr>
          <p:cNvPr id="6" name="TextBox 5">
            <a:extLst>
              <a:ext uri="{FF2B5EF4-FFF2-40B4-BE49-F238E27FC236}">
                <a16:creationId xmlns:a16="http://schemas.microsoft.com/office/drawing/2014/main" id="{E2AF9794-F8C5-0C87-C24C-AC9DF66A1106}"/>
              </a:ext>
            </a:extLst>
          </p:cNvPr>
          <p:cNvSpPr txBox="1"/>
          <p:nvPr/>
        </p:nvSpPr>
        <p:spPr>
          <a:xfrm>
            <a:off x="172720" y="1245091"/>
            <a:ext cx="11236960" cy="923330"/>
          </a:xfrm>
          <a:prstGeom prst="rect">
            <a:avLst/>
          </a:prstGeom>
          <a:noFill/>
        </p:spPr>
        <p:txBody>
          <a:bodyPr wrap="square">
            <a:spAutoFit/>
          </a:bodyPr>
          <a:lstStyle/>
          <a:p>
            <a:pPr marL="285750" indent="-285750">
              <a:buFont typeface="Arial" panose="020B0604020202020204" pitchFamily="34" charset="0"/>
              <a:buChar char="•"/>
            </a:pPr>
            <a:r>
              <a:rPr lang="en-US" dirty="0"/>
              <a:t>MaxPooling2D is a layer used in CNNs to </a:t>
            </a:r>
            <a:r>
              <a:rPr lang="en-US" dirty="0" err="1"/>
              <a:t>downsample</a:t>
            </a:r>
            <a:r>
              <a:rPr lang="en-US" dirty="0"/>
              <a:t> feature maps by reducing their dimensions. It works by keeping only the maximum value within a fixed window (such as 2x2 or 3x3) and discarding the rest. This process decreases the number of parameters and computational complexity in the network.</a:t>
            </a:r>
            <a:endParaRPr lang="en-IN" dirty="0"/>
          </a:p>
        </p:txBody>
      </p:sp>
      <p:sp>
        <p:nvSpPr>
          <p:cNvPr id="9" name="AutoShape 2" descr="\begin{equation*} \text{MaxPooling}(X)_{i,j,k} = \max_{m,n} X_{i \cdot s_x + m, j \cdot s_y + n, k} \end{equation*}">
            <a:extLst>
              <a:ext uri="{FF2B5EF4-FFF2-40B4-BE49-F238E27FC236}">
                <a16:creationId xmlns:a16="http://schemas.microsoft.com/office/drawing/2014/main" id="{01422391-0D32-DA61-414A-B037D1026738}"/>
              </a:ext>
            </a:extLst>
          </p:cNvPr>
          <p:cNvSpPr>
            <a:spLocks noChangeAspect="1" noChangeArrowheads="1"/>
          </p:cNvSpPr>
          <p:nvPr/>
        </p:nvSpPr>
        <p:spPr bwMode="auto">
          <a:xfrm>
            <a:off x="4543425" y="3300413"/>
            <a:ext cx="3105150" cy="2571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begin{equation*} \text{MaxPooling}(X)_{i,j,k} = \max_{m,n} X_{i \cdot s_x + m, j \cdot s_y + n, k} \end{equation*}">
            <a:extLst>
              <a:ext uri="{FF2B5EF4-FFF2-40B4-BE49-F238E27FC236}">
                <a16:creationId xmlns:a16="http://schemas.microsoft.com/office/drawing/2014/main" id="{4BBD531C-F5AD-9030-6B41-6E8BA9055860}"/>
              </a:ext>
            </a:extLst>
          </p:cNvPr>
          <p:cNvSpPr>
            <a:spLocks noChangeAspect="1" noChangeArrowheads="1"/>
          </p:cNvSpPr>
          <p:nvPr/>
        </p:nvSpPr>
        <p:spPr bwMode="auto">
          <a:xfrm>
            <a:off x="4695825" y="3452813"/>
            <a:ext cx="3105150" cy="2571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AutoShape 6" descr="\begin{equation*} \text{MaxPooling}(X)_{i,j,k} = \max_{m,n} X_{i \cdot s_x + m, j \cdot s_y + n, k} \end{equation*}">
            <a:extLst>
              <a:ext uri="{FF2B5EF4-FFF2-40B4-BE49-F238E27FC236}">
                <a16:creationId xmlns:a16="http://schemas.microsoft.com/office/drawing/2014/main" id="{275630FC-95A7-875C-1087-2AFE6F7DBE1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9" name="Picture 18">
            <a:extLst>
              <a:ext uri="{FF2B5EF4-FFF2-40B4-BE49-F238E27FC236}">
                <a16:creationId xmlns:a16="http://schemas.microsoft.com/office/drawing/2014/main" id="{92BC36D5-2FB1-7CFF-D241-C6B8AEB701DA}"/>
              </a:ext>
            </a:extLst>
          </p:cNvPr>
          <p:cNvPicPr>
            <a:picLocks noChangeAspect="1"/>
          </p:cNvPicPr>
          <p:nvPr/>
        </p:nvPicPr>
        <p:blipFill>
          <a:blip r:embed="rId2"/>
          <a:stretch>
            <a:fillRect/>
          </a:stretch>
        </p:blipFill>
        <p:spPr>
          <a:xfrm>
            <a:off x="1437005" y="3884811"/>
            <a:ext cx="4458811" cy="1961961"/>
          </a:xfrm>
          <a:prstGeom prst="rect">
            <a:avLst/>
          </a:prstGeom>
        </p:spPr>
      </p:pic>
      <p:pic>
        <p:nvPicPr>
          <p:cNvPr id="4" name="Picture 3">
            <a:extLst>
              <a:ext uri="{FF2B5EF4-FFF2-40B4-BE49-F238E27FC236}">
                <a16:creationId xmlns:a16="http://schemas.microsoft.com/office/drawing/2014/main" id="{5957FB56-27C0-8214-C513-D4EBFB424D41}"/>
              </a:ext>
            </a:extLst>
          </p:cNvPr>
          <p:cNvPicPr>
            <a:picLocks noChangeAspect="1"/>
          </p:cNvPicPr>
          <p:nvPr/>
        </p:nvPicPr>
        <p:blipFill>
          <a:blip r:embed="rId3"/>
          <a:stretch>
            <a:fillRect/>
          </a:stretch>
        </p:blipFill>
        <p:spPr>
          <a:xfrm>
            <a:off x="4882452" y="2318714"/>
            <a:ext cx="1817495" cy="945980"/>
          </a:xfrm>
          <a:prstGeom prst="rect">
            <a:avLst/>
          </a:prstGeom>
        </p:spPr>
      </p:pic>
      <p:pic>
        <p:nvPicPr>
          <p:cNvPr id="5" name="Picture 4">
            <a:extLst>
              <a:ext uri="{FF2B5EF4-FFF2-40B4-BE49-F238E27FC236}">
                <a16:creationId xmlns:a16="http://schemas.microsoft.com/office/drawing/2014/main" id="{4843C171-2DD0-BF0E-CF66-8390E3F9C897}"/>
              </a:ext>
            </a:extLst>
          </p:cNvPr>
          <p:cNvPicPr>
            <a:picLocks noChangeAspect="1"/>
          </p:cNvPicPr>
          <p:nvPr/>
        </p:nvPicPr>
        <p:blipFill>
          <a:blip r:embed="rId4"/>
          <a:stretch>
            <a:fillRect/>
          </a:stretch>
        </p:blipFill>
        <p:spPr>
          <a:xfrm>
            <a:off x="6908799" y="4043445"/>
            <a:ext cx="4140201" cy="1751944"/>
          </a:xfrm>
          <a:prstGeom prst="rect">
            <a:avLst/>
          </a:prstGeom>
        </p:spPr>
      </p:pic>
    </p:spTree>
    <p:extLst>
      <p:ext uri="{BB962C8B-B14F-4D97-AF65-F5344CB8AC3E}">
        <p14:creationId xmlns:p14="http://schemas.microsoft.com/office/powerpoint/2010/main" val="370037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2000A7-853D-3A0A-9BB0-964FDEEC03D4}"/>
              </a:ext>
            </a:extLst>
          </p:cNvPr>
          <p:cNvPicPr>
            <a:picLocks noChangeAspect="1"/>
          </p:cNvPicPr>
          <p:nvPr/>
        </p:nvPicPr>
        <p:blipFill>
          <a:blip r:embed="rId2"/>
          <a:stretch>
            <a:fillRect/>
          </a:stretch>
        </p:blipFill>
        <p:spPr>
          <a:xfrm>
            <a:off x="2641600" y="3476491"/>
            <a:ext cx="5867400" cy="3006996"/>
          </a:xfrm>
          <a:prstGeom prst="rect">
            <a:avLst/>
          </a:prstGeom>
        </p:spPr>
      </p:pic>
      <p:pic>
        <p:nvPicPr>
          <p:cNvPr id="5" name="Graphic 4">
            <a:extLst>
              <a:ext uri="{FF2B5EF4-FFF2-40B4-BE49-F238E27FC236}">
                <a16:creationId xmlns:a16="http://schemas.microsoft.com/office/drawing/2014/main" id="{2B73FA90-9360-EC4D-37EA-6747FD0900F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24375" y="2123840"/>
            <a:ext cx="2359025" cy="981411"/>
          </a:xfrm>
          <a:prstGeom prst="rect">
            <a:avLst/>
          </a:prstGeom>
        </p:spPr>
      </p:pic>
      <p:sp>
        <p:nvSpPr>
          <p:cNvPr id="7" name="TextBox 6">
            <a:extLst>
              <a:ext uri="{FF2B5EF4-FFF2-40B4-BE49-F238E27FC236}">
                <a16:creationId xmlns:a16="http://schemas.microsoft.com/office/drawing/2014/main" id="{A237AEF9-8929-02F9-2282-8A7F505F18C8}"/>
              </a:ext>
            </a:extLst>
          </p:cNvPr>
          <p:cNvSpPr txBox="1"/>
          <p:nvPr/>
        </p:nvSpPr>
        <p:spPr>
          <a:xfrm>
            <a:off x="977900" y="1106269"/>
            <a:ext cx="9067800" cy="646331"/>
          </a:xfrm>
          <a:prstGeom prst="rect">
            <a:avLst/>
          </a:prstGeom>
          <a:noFill/>
        </p:spPr>
        <p:txBody>
          <a:bodyPr wrap="square">
            <a:spAutoFit/>
          </a:bodyPr>
          <a:lstStyle/>
          <a:p>
            <a:pPr marL="285750" indent="-285750">
              <a:buFont typeface="Arial" panose="020B0604020202020204" pitchFamily="34" charset="0"/>
              <a:buChar char="•"/>
            </a:pPr>
            <a:r>
              <a:rPr lang="en-US" b="0" i="0" dirty="0">
                <a:solidFill>
                  <a:srgbClr val="242424"/>
                </a:solidFill>
                <a:effectLst/>
                <a:highlight>
                  <a:srgbClr val="FFFFFF"/>
                </a:highlight>
                <a:latin typeface="source-serif-pro"/>
              </a:rPr>
              <a:t> B</a:t>
            </a:r>
            <a:r>
              <a:rPr lang="en-US" dirty="0"/>
              <a:t>atch normalization normalizes activation values or extracted features by standardizing them using their own mean and variance within each mini-batch during training.</a:t>
            </a:r>
            <a:endParaRPr lang="en-IN" dirty="0"/>
          </a:p>
        </p:txBody>
      </p:sp>
    </p:spTree>
    <p:extLst>
      <p:ext uri="{BB962C8B-B14F-4D97-AF65-F5344CB8AC3E}">
        <p14:creationId xmlns:p14="http://schemas.microsoft.com/office/powerpoint/2010/main" val="1317359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9B3E531-B61C-BBA8-D9C5-B58CC81CA458}"/>
              </a:ext>
            </a:extLst>
          </p:cNvPr>
          <p:cNvSpPr txBox="1"/>
          <p:nvPr/>
        </p:nvSpPr>
        <p:spPr>
          <a:xfrm>
            <a:off x="953347" y="1037611"/>
            <a:ext cx="9845040" cy="1200329"/>
          </a:xfrm>
          <a:prstGeom prst="rect">
            <a:avLst/>
          </a:prstGeom>
          <a:noFill/>
        </p:spPr>
        <p:txBody>
          <a:bodyPr wrap="square">
            <a:spAutoFit/>
          </a:bodyPr>
          <a:lstStyle/>
          <a:p>
            <a:pPr marL="285750" indent="-285750">
              <a:buFont typeface="Arial" panose="020B0604020202020204" pitchFamily="34" charset="0"/>
              <a:buChar char="•"/>
            </a:pPr>
            <a:r>
              <a:rPr lang="en-US" dirty="0"/>
              <a:t> The flatten layer in neural networks, especially CNNs, converts multi-dimensional arrays (like the output from convolutional layers) into a one-dimensional vector. This prepares the data for fully connected layers.</a:t>
            </a:r>
          </a:p>
          <a:p>
            <a:endParaRPr lang="en-IN" dirty="0"/>
          </a:p>
        </p:txBody>
      </p:sp>
      <p:pic>
        <p:nvPicPr>
          <p:cNvPr id="6" name="Picture 5">
            <a:extLst>
              <a:ext uri="{FF2B5EF4-FFF2-40B4-BE49-F238E27FC236}">
                <a16:creationId xmlns:a16="http://schemas.microsoft.com/office/drawing/2014/main" id="{2A092DA5-260E-53CA-9AB7-90843FF59BC5}"/>
              </a:ext>
            </a:extLst>
          </p:cNvPr>
          <p:cNvPicPr>
            <a:picLocks noChangeAspect="1"/>
          </p:cNvPicPr>
          <p:nvPr/>
        </p:nvPicPr>
        <p:blipFill>
          <a:blip r:embed="rId2"/>
          <a:stretch>
            <a:fillRect/>
          </a:stretch>
        </p:blipFill>
        <p:spPr>
          <a:xfrm>
            <a:off x="2103015" y="2311400"/>
            <a:ext cx="7007119" cy="2807224"/>
          </a:xfrm>
          <a:prstGeom prst="rect">
            <a:avLst/>
          </a:prstGeom>
        </p:spPr>
      </p:pic>
    </p:spTree>
    <p:extLst>
      <p:ext uri="{BB962C8B-B14F-4D97-AF65-F5344CB8AC3E}">
        <p14:creationId xmlns:p14="http://schemas.microsoft.com/office/powerpoint/2010/main" val="104849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701F67-FBC5-B622-56E7-A4F0F18A9FA1}"/>
              </a:ext>
            </a:extLst>
          </p:cNvPr>
          <p:cNvSpPr txBox="1"/>
          <p:nvPr/>
        </p:nvSpPr>
        <p:spPr>
          <a:xfrm>
            <a:off x="884766" y="1105534"/>
            <a:ext cx="10168467" cy="1200329"/>
          </a:xfrm>
          <a:prstGeom prst="rect">
            <a:avLst/>
          </a:prstGeom>
          <a:noFill/>
        </p:spPr>
        <p:txBody>
          <a:bodyPr wrap="square">
            <a:spAutoFit/>
          </a:bodyPr>
          <a:lstStyle/>
          <a:p>
            <a:pPr marL="285750" indent="-285750">
              <a:buFont typeface="Arial" panose="020B0604020202020204" pitchFamily="34" charset="0"/>
              <a:buChar char="•"/>
            </a:pPr>
            <a:r>
              <a:rPr lang="en-US" dirty="0"/>
              <a:t> A fully connected layer or Dense layer is a type of neural network layer where each neuron is connected to every neuron in the preceding layer and every neuron in the subsequent layer. This layer is called "fully connected" because every input is connected to every output neuron, forming a complete connection matrix. Commonly used for feature aggregation and high level features extraction.</a:t>
            </a:r>
            <a:endParaRPr lang="en-IN" dirty="0"/>
          </a:p>
        </p:txBody>
      </p:sp>
      <p:sp>
        <p:nvSpPr>
          <p:cNvPr id="5" name="TextBox 4">
            <a:extLst>
              <a:ext uri="{FF2B5EF4-FFF2-40B4-BE49-F238E27FC236}">
                <a16:creationId xmlns:a16="http://schemas.microsoft.com/office/drawing/2014/main" id="{25891C85-6B3B-5085-983B-829E3C37D943}"/>
              </a:ext>
            </a:extLst>
          </p:cNvPr>
          <p:cNvSpPr txBox="1"/>
          <p:nvPr/>
        </p:nvSpPr>
        <p:spPr>
          <a:xfrm>
            <a:off x="948265" y="2782669"/>
            <a:ext cx="9152467" cy="646331"/>
          </a:xfrm>
          <a:prstGeom prst="rect">
            <a:avLst/>
          </a:prstGeom>
          <a:noFill/>
        </p:spPr>
        <p:txBody>
          <a:bodyPr wrap="square">
            <a:spAutoFit/>
          </a:bodyPr>
          <a:lstStyle/>
          <a:p>
            <a:pPr marL="285750" indent="-285750">
              <a:buFont typeface="Arial" panose="020B0604020202020204" pitchFamily="34" charset="0"/>
              <a:buChar char="•"/>
            </a:pPr>
            <a:r>
              <a:rPr lang="en-US" b="0" i="0" dirty="0">
                <a:solidFill>
                  <a:srgbClr val="242424"/>
                </a:solidFill>
                <a:effectLst/>
                <a:highlight>
                  <a:srgbClr val="FFFFFF"/>
                </a:highlight>
              </a:rPr>
              <a:t>In fully connected layers, the neuron applies a linear transformation to the input vector through a weights matrix.</a:t>
            </a:r>
            <a:endParaRPr lang="en-IN" dirty="0"/>
          </a:p>
        </p:txBody>
      </p:sp>
      <p:pic>
        <p:nvPicPr>
          <p:cNvPr id="7" name="Picture 6">
            <a:extLst>
              <a:ext uri="{FF2B5EF4-FFF2-40B4-BE49-F238E27FC236}">
                <a16:creationId xmlns:a16="http://schemas.microsoft.com/office/drawing/2014/main" id="{FEAC3730-4499-DB17-E9F5-7D974B9128DB}"/>
              </a:ext>
            </a:extLst>
          </p:cNvPr>
          <p:cNvPicPr>
            <a:picLocks noChangeAspect="1"/>
          </p:cNvPicPr>
          <p:nvPr/>
        </p:nvPicPr>
        <p:blipFill>
          <a:blip r:embed="rId2"/>
          <a:stretch>
            <a:fillRect/>
          </a:stretch>
        </p:blipFill>
        <p:spPr>
          <a:xfrm>
            <a:off x="2247898" y="3716867"/>
            <a:ext cx="3577169" cy="1618859"/>
          </a:xfrm>
          <a:prstGeom prst="rect">
            <a:avLst/>
          </a:prstGeom>
        </p:spPr>
      </p:pic>
      <p:pic>
        <p:nvPicPr>
          <p:cNvPr id="9" name="Picture 8">
            <a:extLst>
              <a:ext uri="{FF2B5EF4-FFF2-40B4-BE49-F238E27FC236}">
                <a16:creationId xmlns:a16="http://schemas.microsoft.com/office/drawing/2014/main" id="{EA9E57DE-B248-FB98-A415-2031B7B8D1F8}"/>
              </a:ext>
            </a:extLst>
          </p:cNvPr>
          <p:cNvPicPr>
            <a:picLocks noChangeAspect="1"/>
          </p:cNvPicPr>
          <p:nvPr/>
        </p:nvPicPr>
        <p:blipFill>
          <a:blip r:embed="rId3"/>
          <a:stretch>
            <a:fillRect/>
          </a:stretch>
        </p:blipFill>
        <p:spPr>
          <a:xfrm>
            <a:off x="7594602" y="3530601"/>
            <a:ext cx="1659465" cy="2717800"/>
          </a:xfrm>
          <a:prstGeom prst="rect">
            <a:avLst/>
          </a:prstGeom>
        </p:spPr>
      </p:pic>
      <p:pic>
        <p:nvPicPr>
          <p:cNvPr id="11" name="Picture 10">
            <a:extLst>
              <a:ext uri="{FF2B5EF4-FFF2-40B4-BE49-F238E27FC236}">
                <a16:creationId xmlns:a16="http://schemas.microsoft.com/office/drawing/2014/main" id="{A138A7D1-0076-5DFB-4C2A-EEBB902229BB}"/>
              </a:ext>
            </a:extLst>
          </p:cNvPr>
          <p:cNvPicPr>
            <a:picLocks noChangeAspect="1"/>
          </p:cNvPicPr>
          <p:nvPr/>
        </p:nvPicPr>
        <p:blipFill>
          <a:blip r:embed="rId4"/>
          <a:stretch>
            <a:fillRect/>
          </a:stretch>
        </p:blipFill>
        <p:spPr>
          <a:xfrm>
            <a:off x="1926163" y="5782056"/>
            <a:ext cx="3111502" cy="646332"/>
          </a:xfrm>
          <a:prstGeom prst="rect">
            <a:avLst/>
          </a:prstGeom>
        </p:spPr>
      </p:pic>
    </p:spTree>
    <p:extLst>
      <p:ext uri="{BB962C8B-B14F-4D97-AF65-F5344CB8AC3E}">
        <p14:creationId xmlns:p14="http://schemas.microsoft.com/office/powerpoint/2010/main" val="1778457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9D5D13A-64A4-FF48-5133-63CB1EA5B24D}"/>
              </a:ext>
            </a:extLst>
          </p:cNvPr>
          <p:cNvSpPr txBox="1"/>
          <p:nvPr/>
        </p:nvSpPr>
        <p:spPr>
          <a:xfrm>
            <a:off x="1066800" y="1370696"/>
            <a:ext cx="10048240" cy="646331"/>
          </a:xfrm>
          <a:prstGeom prst="rect">
            <a:avLst/>
          </a:prstGeom>
          <a:noFill/>
        </p:spPr>
        <p:txBody>
          <a:bodyPr wrap="square">
            <a:spAutoFit/>
          </a:bodyPr>
          <a:lstStyle/>
          <a:p>
            <a:pPr marL="285750" indent="-285750">
              <a:buFont typeface="Arial" panose="020B0604020202020204" pitchFamily="34" charset="0"/>
              <a:buChar char="•"/>
            </a:pPr>
            <a:r>
              <a:rPr lang="en-US" dirty="0"/>
              <a:t>A dropout layer is a regularization technique used in neural networks to prevent overfitting. It works by randomly "dropping out" (i.e., setting to zero) a fraction of the neurons during each training iteration</a:t>
            </a:r>
            <a:endParaRPr lang="en-IN" dirty="0"/>
          </a:p>
        </p:txBody>
      </p:sp>
      <p:sp>
        <p:nvSpPr>
          <p:cNvPr id="7" name="TextBox 6">
            <a:extLst>
              <a:ext uri="{FF2B5EF4-FFF2-40B4-BE49-F238E27FC236}">
                <a16:creationId xmlns:a16="http://schemas.microsoft.com/office/drawing/2014/main" id="{C7A505D1-7D25-F4A1-F3F5-A264E84CE040}"/>
              </a:ext>
            </a:extLst>
          </p:cNvPr>
          <p:cNvSpPr txBox="1"/>
          <p:nvPr/>
        </p:nvSpPr>
        <p:spPr>
          <a:xfrm>
            <a:off x="1066800" y="2278741"/>
            <a:ext cx="9845040" cy="646331"/>
          </a:xfrm>
          <a:prstGeom prst="rect">
            <a:avLst/>
          </a:prstGeom>
          <a:noFill/>
        </p:spPr>
        <p:txBody>
          <a:bodyPr wrap="square">
            <a:spAutoFit/>
          </a:bodyPr>
          <a:lstStyle/>
          <a:p>
            <a:pPr marL="285750" indent="-285750">
              <a:buFont typeface="Arial" panose="020B0604020202020204" pitchFamily="34" charset="0"/>
              <a:buChar char="•"/>
            </a:pPr>
            <a:r>
              <a:rPr lang="en-US" b="1" dirty="0"/>
              <a:t>Preventing Overfitting</a:t>
            </a:r>
            <a:r>
              <a:rPr lang="en-US" dirty="0"/>
              <a:t>: Reducing the model's tendency to memorize the training data and improving its performance on new data</a:t>
            </a:r>
            <a:endParaRPr lang="en-IN" dirty="0"/>
          </a:p>
        </p:txBody>
      </p:sp>
      <p:pic>
        <p:nvPicPr>
          <p:cNvPr id="6" name="Picture 5">
            <a:extLst>
              <a:ext uri="{FF2B5EF4-FFF2-40B4-BE49-F238E27FC236}">
                <a16:creationId xmlns:a16="http://schemas.microsoft.com/office/drawing/2014/main" id="{DA384AE4-8A4D-8721-348D-7783E631B035}"/>
              </a:ext>
            </a:extLst>
          </p:cNvPr>
          <p:cNvPicPr>
            <a:picLocks noChangeAspect="1"/>
          </p:cNvPicPr>
          <p:nvPr/>
        </p:nvPicPr>
        <p:blipFill>
          <a:blip r:embed="rId2"/>
          <a:stretch>
            <a:fillRect/>
          </a:stretch>
        </p:blipFill>
        <p:spPr>
          <a:xfrm>
            <a:off x="2871441" y="3193573"/>
            <a:ext cx="5392026" cy="2293731"/>
          </a:xfrm>
          <a:prstGeom prst="rect">
            <a:avLst/>
          </a:prstGeom>
        </p:spPr>
      </p:pic>
    </p:spTree>
    <p:extLst>
      <p:ext uri="{BB962C8B-B14F-4D97-AF65-F5344CB8AC3E}">
        <p14:creationId xmlns:p14="http://schemas.microsoft.com/office/powerpoint/2010/main" val="362047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79C8C2-4DC5-BA42-24D1-E73292206651}"/>
              </a:ext>
            </a:extLst>
          </p:cNvPr>
          <p:cNvSpPr txBox="1"/>
          <p:nvPr/>
        </p:nvSpPr>
        <p:spPr>
          <a:xfrm>
            <a:off x="735802" y="1215072"/>
            <a:ext cx="10456780" cy="646331"/>
          </a:xfrm>
          <a:prstGeom prst="rect">
            <a:avLst/>
          </a:prstGeom>
          <a:noFill/>
        </p:spPr>
        <p:txBody>
          <a:bodyPr wrap="square">
            <a:spAutoFit/>
          </a:bodyPr>
          <a:lstStyle/>
          <a:p>
            <a:pPr marL="285750" indent="-285750">
              <a:buFont typeface="Arial" panose="020B0604020202020204" pitchFamily="34" charset="0"/>
              <a:buChar char="•"/>
            </a:pPr>
            <a:r>
              <a:rPr lang="en-US" dirty="0" err="1"/>
              <a:t>ReLU</a:t>
            </a:r>
            <a:r>
              <a:rPr lang="en-US" dirty="0"/>
              <a:t>, or Rectified Linear Unit, is a simple effective activation function used in neural networks. It computes the output as the maximum between zero and the input value. Mathematically, </a:t>
            </a:r>
            <a:r>
              <a:rPr lang="en-US" dirty="0" err="1"/>
              <a:t>ReLU</a:t>
            </a:r>
            <a:r>
              <a:rPr lang="en-US" dirty="0"/>
              <a:t>(x) = max(0, x).  </a:t>
            </a:r>
          </a:p>
        </p:txBody>
      </p:sp>
      <p:pic>
        <p:nvPicPr>
          <p:cNvPr id="5" name="Picture 4">
            <a:extLst>
              <a:ext uri="{FF2B5EF4-FFF2-40B4-BE49-F238E27FC236}">
                <a16:creationId xmlns:a16="http://schemas.microsoft.com/office/drawing/2014/main" id="{5493A7CE-8DEE-806E-39FA-4C2AF821ACEE}"/>
              </a:ext>
            </a:extLst>
          </p:cNvPr>
          <p:cNvPicPr>
            <a:picLocks noChangeAspect="1"/>
          </p:cNvPicPr>
          <p:nvPr/>
        </p:nvPicPr>
        <p:blipFill>
          <a:blip r:embed="rId2"/>
          <a:stretch>
            <a:fillRect/>
          </a:stretch>
        </p:blipFill>
        <p:spPr>
          <a:xfrm>
            <a:off x="3344286" y="2198463"/>
            <a:ext cx="3467148" cy="1803400"/>
          </a:xfrm>
          <a:prstGeom prst="rect">
            <a:avLst/>
          </a:prstGeom>
        </p:spPr>
      </p:pic>
      <p:sp>
        <p:nvSpPr>
          <p:cNvPr id="4" name="TextBox 3">
            <a:extLst>
              <a:ext uri="{FF2B5EF4-FFF2-40B4-BE49-F238E27FC236}">
                <a16:creationId xmlns:a16="http://schemas.microsoft.com/office/drawing/2014/main" id="{C724B499-056A-547B-E5D7-5F3B13340159}"/>
              </a:ext>
            </a:extLst>
          </p:cNvPr>
          <p:cNvSpPr txBox="1"/>
          <p:nvPr/>
        </p:nvSpPr>
        <p:spPr>
          <a:xfrm>
            <a:off x="735802" y="4338923"/>
            <a:ext cx="7193232" cy="1477328"/>
          </a:xfrm>
          <a:prstGeom prst="rect">
            <a:avLst/>
          </a:prstGeom>
          <a:noFill/>
        </p:spPr>
        <p:txBody>
          <a:bodyPr wrap="square">
            <a:spAutoFit/>
          </a:bodyPr>
          <a:lstStyle/>
          <a:p>
            <a:pPr marL="285750" indent="-285750">
              <a:buFont typeface="Arial" panose="020B0604020202020204" pitchFamily="34" charset="0"/>
              <a:buChar char="•"/>
            </a:pPr>
            <a:r>
              <a:rPr lang="en-US" dirty="0"/>
              <a:t>The sigmoid activation function, also known as the logistic function, is a type of activation function commonly used in neural networks, especially in the output layer for binary classification tasks. It squashes the output of a neuron to a range between 0 and 1, effectively converting any real-valued input into a probability value.</a:t>
            </a:r>
            <a:endParaRPr lang="en-IN" dirty="0"/>
          </a:p>
        </p:txBody>
      </p:sp>
      <p:pic>
        <p:nvPicPr>
          <p:cNvPr id="6" name="Picture 5">
            <a:extLst>
              <a:ext uri="{FF2B5EF4-FFF2-40B4-BE49-F238E27FC236}">
                <a16:creationId xmlns:a16="http://schemas.microsoft.com/office/drawing/2014/main" id="{8E4D580C-7479-FD9C-4DAA-40B4EA83DBC0}"/>
              </a:ext>
            </a:extLst>
          </p:cNvPr>
          <p:cNvPicPr>
            <a:picLocks noChangeAspect="1"/>
          </p:cNvPicPr>
          <p:nvPr/>
        </p:nvPicPr>
        <p:blipFill>
          <a:blip r:embed="rId3"/>
          <a:stretch>
            <a:fillRect/>
          </a:stretch>
        </p:blipFill>
        <p:spPr>
          <a:xfrm>
            <a:off x="8086913" y="4108618"/>
            <a:ext cx="3647887" cy="2127348"/>
          </a:xfrm>
          <a:prstGeom prst="rect">
            <a:avLst/>
          </a:prstGeom>
        </p:spPr>
      </p:pic>
    </p:spTree>
    <p:extLst>
      <p:ext uri="{BB962C8B-B14F-4D97-AF65-F5344CB8AC3E}">
        <p14:creationId xmlns:p14="http://schemas.microsoft.com/office/powerpoint/2010/main" val="1627810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C8753E-F119-4A83-F48C-EDCC617A15BB}"/>
              </a:ext>
            </a:extLst>
          </p:cNvPr>
          <p:cNvSpPr txBox="1"/>
          <p:nvPr/>
        </p:nvSpPr>
        <p:spPr>
          <a:xfrm>
            <a:off x="1092200" y="1456035"/>
            <a:ext cx="10033000" cy="646331"/>
          </a:xfrm>
          <a:prstGeom prst="rect">
            <a:avLst/>
          </a:prstGeom>
          <a:noFill/>
        </p:spPr>
        <p:txBody>
          <a:bodyPr wrap="square">
            <a:spAutoFit/>
          </a:bodyPr>
          <a:lstStyle/>
          <a:p>
            <a:pPr marL="285750" indent="-285750">
              <a:buFont typeface="Arial" panose="020B0604020202020204" pitchFamily="34" charset="0"/>
              <a:buChar char="•"/>
            </a:pPr>
            <a:r>
              <a:rPr lang="en-US" b="1" dirty="0">
                <a:solidFill>
                  <a:srgbClr val="242424"/>
                </a:solidFill>
                <a:highlight>
                  <a:srgbClr val="FFFFFF"/>
                </a:highlight>
                <a:latin typeface="source-serif-pro"/>
              </a:rPr>
              <a:t>Forward Propagation </a:t>
            </a:r>
            <a:r>
              <a:rPr lang="en-US" dirty="0">
                <a:solidFill>
                  <a:srgbClr val="242424"/>
                </a:solidFill>
                <a:highlight>
                  <a:srgbClr val="FFFFFF"/>
                </a:highlight>
                <a:latin typeface="source-serif-pro"/>
              </a:rPr>
              <a:t>: </a:t>
            </a:r>
            <a:r>
              <a:rPr lang="en-US" b="0" i="0" dirty="0">
                <a:solidFill>
                  <a:srgbClr val="242424"/>
                </a:solidFill>
                <a:effectLst/>
                <a:highlight>
                  <a:srgbClr val="FFFFFF"/>
                </a:highlight>
                <a:latin typeface="source-serif-pro"/>
              </a:rPr>
              <a:t>forward propagation enables the neural network to transform input data through its layers, incorporating weights, biases, and activation functions</a:t>
            </a:r>
            <a:endParaRPr lang="en-IN" dirty="0"/>
          </a:p>
        </p:txBody>
      </p:sp>
      <p:sp>
        <p:nvSpPr>
          <p:cNvPr id="5" name="TextBox 4">
            <a:extLst>
              <a:ext uri="{FF2B5EF4-FFF2-40B4-BE49-F238E27FC236}">
                <a16:creationId xmlns:a16="http://schemas.microsoft.com/office/drawing/2014/main" id="{E1437F57-5B58-D057-6EC7-CAF545D7E292}"/>
              </a:ext>
            </a:extLst>
          </p:cNvPr>
          <p:cNvSpPr txBox="1"/>
          <p:nvPr/>
        </p:nvSpPr>
        <p:spPr>
          <a:xfrm>
            <a:off x="1092200" y="2505670"/>
            <a:ext cx="9779000" cy="923330"/>
          </a:xfrm>
          <a:prstGeom prst="rect">
            <a:avLst/>
          </a:prstGeom>
          <a:noFill/>
        </p:spPr>
        <p:txBody>
          <a:bodyPr wrap="square">
            <a:spAutoFit/>
          </a:bodyPr>
          <a:lstStyle/>
          <a:p>
            <a:pPr marL="285750" indent="-285750">
              <a:buFont typeface="Arial" panose="020B0604020202020204" pitchFamily="34" charset="0"/>
              <a:buChar char="•"/>
            </a:pPr>
            <a:r>
              <a:rPr lang="en-US" b="1" i="0" dirty="0">
                <a:solidFill>
                  <a:srgbClr val="242424"/>
                </a:solidFill>
                <a:effectLst/>
                <a:highlight>
                  <a:srgbClr val="FFFFFF"/>
                </a:highlight>
                <a:latin typeface="source-serif-pro"/>
              </a:rPr>
              <a:t>Backward Propagation </a:t>
            </a:r>
            <a:r>
              <a:rPr lang="en-US" i="0" dirty="0">
                <a:solidFill>
                  <a:srgbClr val="242424"/>
                </a:solidFill>
                <a:effectLst/>
                <a:highlight>
                  <a:srgbClr val="FFFFFF"/>
                </a:highlight>
                <a:latin typeface="source-serif-pro"/>
              </a:rPr>
              <a:t>: backpropagation aims to minimize the cost function by adjusting network’s weights and biases</a:t>
            </a:r>
            <a:r>
              <a:rPr lang="en-US" b="1" i="0" dirty="0">
                <a:solidFill>
                  <a:srgbClr val="242424"/>
                </a:solidFill>
                <a:effectLst/>
                <a:highlight>
                  <a:srgbClr val="FFFFFF"/>
                </a:highlight>
                <a:latin typeface="source-serif-pro"/>
              </a:rPr>
              <a:t>.</a:t>
            </a:r>
            <a:r>
              <a:rPr lang="en-US" b="0" i="0" dirty="0">
                <a:solidFill>
                  <a:srgbClr val="242424"/>
                </a:solidFill>
                <a:effectLst/>
                <a:highlight>
                  <a:srgbClr val="FFFFFF"/>
                </a:highlight>
                <a:latin typeface="source-serif-pro"/>
              </a:rPr>
              <a:t> The level of adjustment is determined by the gradients of the cost function with respect to those parameters</a:t>
            </a:r>
            <a:endParaRPr lang="en-IN" dirty="0"/>
          </a:p>
        </p:txBody>
      </p:sp>
      <p:pic>
        <p:nvPicPr>
          <p:cNvPr id="7" name="Picture 6">
            <a:extLst>
              <a:ext uri="{FF2B5EF4-FFF2-40B4-BE49-F238E27FC236}">
                <a16:creationId xmlns:a16="http://schemas.microsoft.com/office/drawing/2014/main" id="{CFF9CF4F-3710-DCFD-8236-6A9D578F32A1}"/>
              </a:ext>
            </a:extLst>
          </p:cNvPr>
          <p:cNvPicPr>
            <a:picLocks noChangeAspect="1"/>
          </p:cNvPicPr>
          <p:nvPr/>
        </p:nvPicPr>
        <p:blipFill>
          <a:blip r:embed="rId2"/>
          <a:stretch>
            <a:fillRect/>
          </a:stretch>
        </p:blipFill>
        <p:spPr>
          <a:xfrm>
            <a:off x="2794000" y="3594100"/>
            <a:ext cx="6375400" cy="2971800"/>
          </a:xfrm>
          <a:prstGeom prst="rect">
            <a:avLst/>
          </a:prstGeom>
        </p:spPr>
      </p:pic>
    </p:spTree>
    <p:extLst>
      <p:ext uri="{BB962C8B-B14F-4D97-AF65-F5344CB8AC3E}">
        <p14:creationId xmlns:p14="http://schemas.microsoft.com/office/powerpoint/2010/main" val="6012349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B97C01D-31B6-2932-2B3A-3E8B06CF23F4}"/>
              </a:ext>
            </a:extLst>
          </p:cNvPr>
          <p:cNvSpPr txBox="1"/>
          <p:nvPr/>
        </p:nvSpPr>
        <p:spPr>
          <a:xfrm>
            <a:off x="952500" y="1240135"/>
            <a:ext cx="9232900" cy="646331"/>
          </a:xfrm>
          <a:prstGeom prst="rect">
            <a:avLst/>
          </a:prstGeom>
          <a:noFill/>
        </p:spPr>
        <p:txBody>
          <a:bodyPr wrap="square">
            <a:spAutoFit/>
          </a:bodyPr>
          <a:lstStyle/>
          <a:p>
            <a:pPr marL="285750" indent="-285750">
              <a:buFont typeface="Arial" panose="020B0604020202020204" pitchFamily="34" charset="0"/>
              <a:buChar char="•"/>
            </a:pPr>
            <a:r>
              <a:rPr lang="en-US" b="0" i="0" dirty="0">
                <a:solidFill>
                  <a:srgbClr val="242424"/>
                </a:solidFill>
                <a:effectLst/>
                <a:highlight>
                  <a:srgbClr val="FFFFFF"/>
                </a:highlight>
                <a:latin typeface="source-serif-pro"/>
              </a:rPr>
              <a:t>A </a:t>
            </a:r>
            <a:r>
              <a:rPr lang="en-US" b="1" i="0" dirty="0">
                <a:solidFill>
                  <a:srgbClr val="242424"/>
                </a:solidFill>
                <a:effectLst/>
                <a:highlight>
                  <a:srgbClr val="FFFFFF"/>
                </a:highlight>
                <a:latin typeface="source-serif-pro"/>
              </a:rPr>
              <a:t>loss function</a:t>
            </a:r>
            <a:r>
              <a:rPr lang="en-US" b="0" i="0" dirty="0">
                <a:solidFill>
                  <a:srgbClr val="242424"/>
                </a:solidFill>
                <a:effectLst/>
                <a:highlight>
                  <a:srgbClr val="FFFFFF"/>
                </a:highlight>
                <a:latin typeface="source-serif-pro"/>
              </a:rPr>
              <a:t> is a function that </a:t>
            </a:r>
            <a:r>
              <a:rPr lang="en-US" b="1" i="0" dirty="0">
                <a:solidFill>
                  <a:srgbClr val="242424"/>
                </a:solidFill>
                <a:effectLst/>
                <a:highlight>
                  <a:srgbClr val="FFFFFF"/>
                </a:highlight>
                <a:latin typeface="source-serif-pro"/>
              </a:rPr>
              <a:t>compares</a:t>
            </a:r>
            <a:r>
              <a:rPr lang="en-US" b="0" i="0" dirty="0">
                <a:solidFill>
                  <a:srgbClr val="242424"/>
                </a:solidFill>
                <a:effectLst/>
                <a:highlight>
                  <a:srgbClr val="FFFFFF"/>
                </a:highlight>
                <a:latin typeface="source-serif-pro"/>
              </a:rPr>
              <a:t> the target and predicted output values</a:t>
            </a:r>
            <a:r>
              <a:rPr lang="en-US" dirty="0">
                <a:solidFill>
                  <a:srgbClr val="242424"/>
                </a:solidFill>
                <a:highlight>
                  <a:srgbClr val="FFFFFF"/>
                </a:highlight>
                <a:latin typeface="source-serif-pro"/>
              </a:rPr>
              <a:t>, </a:t>
            </a:r>
            <a:r>
              <a:rPr lang="en-US" b="0" i="0" dirty="0">
                <a:solidFill>
                  <a:srgbClr val="242424"/>
                </a:solidFill>
                <a:effectLst/>
                <a:highlight>
                  <a:srgbClr val="FFFFFF"/>
                </a:highlight>
                <a:latin typeface="source-serif-pro"/>
              </a:rPr>
              <a:t>measures how well the neural network models the training data.</a:t>
            </a:r>
          </a:p>
        </p:txBody>
      </p:sp>
      <p:sp>
        <p:nvSpPr>
          <p:cNvPr id="5" name="TextBox 4">
            <a:extLst>
              <a:ext uri="{FF2B5EF4-FFF2-40B4-BE49-F238E27FC236}">
                <a16:creationId xmlns:a16="http://schemas.microsoft.com/office/drawing/2014/main" id="{9EB8D63A-4242-CF0D-C305-80BD7D9862B3}"/>
              </a:ext>
            </a:extLst>
          </p:cNvPr>
          <p:cNvSpPr txBox="1"/>
          <p:nvPr/>
        </p:nvSpPr>
        <p:spPr>
          <a:xfrm>
            <a:off x="1117600" y="3300551"/>
            <a:ext cx="8902700" cy="1200329"/>
          </a:xfrm>
          <a:prstGeom prst="rect">
            <a:avLst/>
          </a:prstGeom>
          <a:noFill/>
        </p:spPr>
        <p:txBody>
          <a:bodyPr wrap="square">
            <a:spAutoFit/>
          </a:bodyPr>
          <a:lstStyle/>
          <a:p>
            <a:pPr algn="l"/>
            <a:r>
              <a:rPr lang="en-US" b="1" i="0" dirty="0">
                <a:solidFill>
                  <a:srgbClr val="242424"/>
                </a:solidFill>
                <a:effectLst/>
                <a:highlight>
                  <a:srgbClr val="FFFFFF"/>
                </a:highlight>
                <a:latin typeface="sohne"/>
              </a:rPr>
              <a:t> Binary Cross-Entropy/Log Loss</a:t>
            </a:r>
          </a:p>
          <a:p>
            <a:pPr algn="l"/>
            <a:endParaRPr lang="en-US" b="1" i="0" dirty="0">
              <a:solidFill>
                <a:srgbClr val="242424"/>
              </a:solidFill>
              <a:effectLst/>
              <a:highlight>
                <a:srgbClr val="FFFFFF"/>
              </a:highlight>
              <a:latin typeface="sohne"/>
            </a:endParaRPr>
          </a:p>
          <a:p>
            <a:pPr marL="285750" indent="-285750" algn="l">
              <a:buFont typeface="Arial" panose="020B0604020202020204" pitchFamily="34" charset="0"/>
              <a:buChar char="•"/>
            </a:pPr>
            <a:r>
              <a:rPr lang="en-US" b="0" i="0" dirty="0">
                <a:solidFill>
                  <a:srgbClr val="242424"/>
                </a:solidFill>
                <a:effectLst/>
                <a:highlight>
                  <a:srgbClr val="FFFFFF"/>
                </a:highlight>
                <a:latin typeface="source-serif-pro"/>
              </a:rPr>
              <a:t>This is the loss function used in binary classification models where the model takes in an input and has to classify it into one of two pre-set categories.</a:t>
            </a:r>
          </a:p>
        </p:txBody>
      </p:sp>
      <p:pic>
        <p:nvPicPr>
          <p:cNvPr id="7" name="Picture 6">
            <a:extLst>
              <a:ext uri="{FF2B5EF4-FFF2-40B4-BE49-F238E27FC236}">
                <a16:creationId xmlns:a16="http://schemas.microsoft.com/office/drawing/2014/main" id="{C7E59A0A-01E5-7E5A-77C0-2D37C60EF7D2}"/>
              </a:ext>
            </a:extLst>
          </p:cNvPr>
          <p:cNvPicPr>
            <a:picLocks noChangeAspect="1"/>
          </p:cNvPicPr>
          <p:nvPr/>
        </p:nvPicPr>
        <p:blipFill>
          <a:blip r:embed="rId2"/>
          <a:stretch>
            <a:fillRect/>
          </a:stretch>
        </p:blipFill>
        <p:spPr>
          <a:xfrm>
            <a:off x="1861820" y="4533900"/>
            <a:ext cx="7556500" cy="1359079"/>
          </a:xfrm>
          <a:prstGeom prst="rect">
            <a:avLst/>
          </a:prstGeom>
        </p:spPr>
      </p:pic>
      <p:pic>
        <p:nvPicPr>
          <p:cNvPr id="4" name="Picture 3">
            <a:extLst>
              <a:ext uri="{FF2B5EF4-FFF2-40B4-BE49-F238E27FC236}">
                <a16:creationId xmlns:a16="http://schemas.microsoft.com/office/drawing/2014/main" id="{15F73B80-0C10-944F-50A7-3D1A4D717763}"/>
              </a:ext>
            </a:extLst>
          </p:cNvPr>
          <p:cNvPicPr>
            <a:picLocks noChangeAspect="1"/>
          </p:cNvPicPr>
          <p:nvPr/>
        </p:nvPicPr>
        <p:blipFill>
          <a:blip r:embed="rId3"/>
          <a:stretch>
            <a:fillRect/>
          </a:stretch>
        </p:blipFill>
        <p:spPr>
          <a:xfrm>
            <a:off x="2212099" y="2069774"/>
            <a:ext cx="4269981" cy="964681"/>
          </a:xfrm>
          <a:prstGeom prst="rect">
            <a:avLst/>
          </a:prstGeom>
        </p:spPr>
      </p:pic>
    </p:spTree>
    <p:extLst>
      <p:ext uri="{BB962C8B-B14F-4D97-AF65-F5344CB8AC3E}">
        <p14:creationId xmlns:p14="http://schemas.microsoft.com/office/powerpoint/2010/main" val="3470436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D432DC-A4A8-A939-FB19-827B98ABA905}"/>
              </a:ext>
            </a:extLst>
          </p:cNvPr>
          <p:cNvSpPr txBox="1"/>
          <p:nvPr/>
        </p:nvSpPr>
        <p:spPr>
          <a:xfrm>
            <a:off x="802640" y="1336102"/>
            <a:ext cx="10586720" cy="2031325"/>
          </a:xfrm>
          <a:prstGeom prst="rect">
            <a:avLst/>
          </a:prstGeom>
          <a:noFill/>
        </p:spPr>
        <p:txBody>
          <a:bodyPr wrap="square">
            <a:spAutoFit/>
          </a:bodyPr>
          <a:lstStyle/>
          <a:p>
            <a:pPr algn="l" rtl="0" fontAlgn="base"/>
            <a:r>
              <a:rPr lang="en-US" b="0" i="0" dirty="0">
                <a:solidFill>
                  <a:srgbClr val="273239"/>
                </a:solidFill>
                <a:effectLst/>
                <a:highlight>
                  <a:srgbClr val="FFFFFF"/>
                </a:highlight>
                <a:latin typeface=" source-serif-pro"/>
              </a:rPr>
              <a:t>Gradient Descent is a fundamental optimization algorithm in machine learning used to minimize the cost or loss function during model training.</a:t>
            </a:r>
          </a:p>
          <a:p>
            <a:pPr algn="l" rtl="0" fontAlgn="base"/>
            <a:endParaRPr lang="en-US" b="0" i="0" dirty="0">
              <a:solidFill>
                <a:srgbClr val="273239"/>
              </a:solidFill>
              <a:effectLst/>
              <a:highlight>
                <a:srgbClr val="FFFFFF"/>
              </a:highlight>
              <a:latin typeface=" source-serif-pro"/>
            </a:endParaRPr>
          </a:p>
          <a:p>
            <a:pPr algn="l" fontAlgn="base">
              <a:buFont typeface="Arial" panose="020B0604020202020204" pitchFamily="34" charset="0"/>
              <a:buChar char="•"/>
            </a:pPr>
            <a:r>
              <a:rPr lang="en-US" b="0" i="0" dirty="0">
                <a:solidFill>
                  <a:srgbClr val="273239"/>
                </a:solidFill>
                <a:effectLst/>
                <a:highlight>
                  <a:srgbClr val="FFFFFF"/>
                </a:highlight>
                <a:latin typeface=" source-serif-pro"/>
              </a:rPr>
              <a:t> It iteratively adjusts model parameters by moving in the direction of the steepest decrease in the cost function.</a:t>
            </a:r>
          </a:p>
          <a:p>
            <a:pPr algn="l" fontAlgn="base">
              <a:buFont typeface="Arial" panose="020B0604020202020204" pitchFamily="34" charset="0"/>
              <a:buChar char="•"/>
            </a:pPr>
            <a:r>
              <a:rPr lang="en-US" b="0" i="0" dirty="0">
                <a:solidFill>
                  <a:srgbClr val="273239"/>
                </a:solidFill>
                <a:effectLst/>
                <a:highlight>
                  <a:srgbClr val="FFFFFF"/>
                </a:highlight>
                <a:latin typeface=" source-serif-pro"/>
              </a:rPr>
              <a:t> The algorithm calculates gradients, representing the partial derivatives of the cost function concerning each parameter.</a:t>
            </a:r>
          </a:p>
        </p:txBody>
      </p:sp>
      <p:pic>
        <p:nvPicPr>
          <p:cNvPr id="5" name="Graphic 4">
            <a:extLst>
              <a:ext uri="{FF2B5EF4-FFF2-40B4-BE49-F238E27FC236}">
                <a16:creationId xmlns:a16="http://schemas.microsoft.com/office/drawing/2014/main" id="{2284957A-2F00-E769-73D4-23BAE9FB96A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12161" y="3429000"/>
            <a:ext cx="3860799" cy="473519"/>
          </a:xfrm>
          <a:prstGeom prst="rect">
            <a:avLst/>
          </a:prstGeom>
        </p:spPr>
      </p:pic>
      <p:sp>
        <p:nvSpPr>
          <p:cNvPr id="7" name="TextBox 6">
            <a:extLst>
              <a:ext uri="{FF2B5EF4-FFF2-40B4-BE49-F238E27FC236}">
                <a16:creationId xmlns:a16="http://schemas.microsoft.com/office/drawing/2014/main" id="{E1408427-D5CE-E43D-55EB-93B9426F62B1}"/>
              </a:ext>
            </a:extLst>
          </p:cNvPr>
          <p:cNvSpPr txBox="1"/>
          <p:nvPr/>
        </p:nvSpPr>
        <p:spPr>
          <a:xfrm>
            <a:off x="939800" y="5562262"/>
            <a:ext cx="10312400" cy="369332"/>
          </a:xfrm>
          <a:prstGeom prst="rect">
            <a:avLst/>
          </a:prstGeom>
          <a:noFill/>
        </p:spPr>
        <p:txBody>
          <a:bodyPr wrap="square">
            <a:spAutoFit/>
          </a:bodyPr>
          <a:lstStyle/>
          <a:p>
            <a:r>
              <a:rPr lang="en-US" b="0" i="0" dirty="0">
                <a:solidFill>
                  <a:srgbClr val="273239"/>
                </a:solidFill>
                <a:effectLst/>
                <a:highlight>
                  <a:srgbClr val="FFFFFF"/>
                </a:highlight>
                <a:latin typeface="source-serif-pro"/>
              </a:rPr>
              <a:t> </a:t>
            </a:r>
            <a:endParaRPr lang="en-IN" dirty="0">
              <a:latin typeface="source-serif-pro"/>
            </a:endParaRPr>
          </a:p>
        </p:txBody>
      </p:sp>
      <p:pic>
        <p:nvPicPr>
          <p:cNvPr id="9" name="Picture 8">
            <a:extLst>
              <a:ext uri="{FF2B5EF4-FFF2-40B4-BE49-F238E27FC236}">
                <a16:creationId xmlns:a16="http://schemas.microsoft.com/office/drawing/2014/main" id="{61B0E0BE-4BCC-54FC-03D7-E551BDECEA50}"/>
              </a:ext>
            </a:extLst>
          </p:cNvPr>
          <p:cNvPicPr>
            <a:picLocks noChangeAspect="1"/>
          </p:cNvPicPr>
          <p:nvPr/>
        </p:nvPicPr>
        <p:blipFill>
          <a:blip r:embed="rId4"/>
          <a:stretch>
            <a:fillRect/>
          </a:stretch>
        </p:blipFill>
        <p:spPr>
          <a:xfrm>
            <a:off x="4280558" y="4099039"/>
            <a:ext cx="2259667" cy="2223961"/>
          </a:xfrm>
          <a:prstGeom prst="rect">
            <a:avLst/>
          </a:prstGeom>
        </p:spPr>
      </p:pic>
      <p:sp>
        <p:nvSpPr>
          <p:cNvPr id="11" name="TextBox 10">
            <a:extLst>
              <a:ext uri="{FF2B5EF4-FFF2-40B4-BE49-F238E27FC236}">
                <a16:creationId xmlns:a16="http://schemas.microsoft.com/office/drawing/2014/main" id="{2FCFE991-681E-588F-FBA5-7C34F4800231}"/>
              </a:ext>
            </a:extLst>
          </p:cNvPr>
          <p:cNvSpPr txBox="1"/>
          <p:nvPr/>
        </p:nvSpPr>
        <p:spPr>
          <a:xfrm>
            <a:off x="802640" y="868510"/>
            <a:ext cx="7091680" cy="400110"/>
          </a:xfrm>
          <a:prstGeom prst="rect">
            <a:avLst/>
          </a:prstGeom>
          <a:noFill/>
        </p:spPr>
        <p:txBody>
          <a:bodyPr wrap="square">
            <a:spAutoFit/>
          </a:bodyPr>
          <a:lstStyle/>
          <a:p>
            <a:r>
              <a:rPr lang="en-IN" sz="2000" b="1" i="0" dirty="0">
                <a:solidFill>
                  <a:srgbClr val="273239"/>
                </a:solidFill>
                <a:effectLst/>
                <a:highlight>
                  <a:srgbClr val="FFFFFF"/>
                </a:highlight>
                <a:latin typeface="Source Sans 3"/>
              </a:rPr>
              <a:t>Gradient Descent </a:t>
            </a:r>
            <a:endParaRPr lang="en-IN" sz="2000" dirty="0"/>
          </a:p>
        </p:txBody>
      </p:sp>
    </p:spTree>
    <p:extLst>
      <p:ext uri="{BB962C8B-B14F-4D97-AF65-F5344CB8AC3E}">
        <p14:creationId xmlns:p14="http://schemas.microsoft.com/office/powerpoint/2010/main" val="31684994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C94EBDD-F868-4121-8626-7736D87A632C}"/>
              </a:ext>
            </a:extLst>
          </p:cNvPr>
          <p:cNvSpPr txBox="1"/>
          <p:nvPr/>
        </p:nvSpPr>
        <p:spPr>
          <a:xfrm>
            <a:off x="1056640" y="1522412"/>
            <a:ext cx="10078720" cy="1200329"/>
          </a:xfrm>
          <a:prstGeom prst="rect">
            <a:avLst/>
          </a:prstGeom>
          <a:noFill/>
        </p:spPr>
        <p:txBody>
          <a:bodyPr wrap="square">
            <a:spAutoFit/>
          </a:bodyPr>
          <a:lstStyle/>
          <a:p>
            <a:r>
              <a:rPr lang="en-US" b="0" i="0" dirty="0">
                <a:solidFill>
                  <a:srgbClr val="273239"/>
                </a:solidFill>
                <a:effectLst/>
                <a:highlight>
                  <a:srgbClr val="FFFFFF"/>
                </a:highlight>
                <a:latin typeface=" source-serif-pro"/>
              </a:rPr>
              <a:t>In SGD, instead of using the entire dataset for each iteration, only a single random training example (or a small batch) is selected to calculate the gradient and update the model parameters. This random selection introduces randomness into the optimization process, hence the term “stochastic” in stochastic Gradient Descent</a:t>
            </a:r>
            <a:endParaRPr lang="en-IN" dirty="0">
              <a:latin typeface=" source-serif-pro"/>
            </a:endParaRPr>
          </a:p>
        </p:txBody>
      </p:sp>
      <p:pic>
        <p:nvPicPr>
          <p:cNvPr id="6" name="Picture 5">
            <a:extLst>
              <a:ext uri="{FF2B5EF4-FFF2-40B4-BE49-F238E27FC236}">
                <a16:creationId xmlns:a16="http://schemas.microsoft.com/office/drawing/2014/main" id="{26F2EDAF-FAE1-3B45-6463-7FD9E75C63EF}"/>
              </a:ext>
            </a:extLst>
          </p:cNvPr>
          <p:cNvPicPr>
            <a:picLocks noChangeAspect="1"/>
          </p:cNvPicPr>
          <p:nvPr/>
        </p:nvPicPr>
        <p:blipFill>
          <a:blip r:embed="rId2"/>
          <a:stretch>
            <a:fillRect/>
          </a:stretch>
        </p:blipFill>
        <p:spPr>
          <a:xfrm>
            <a:off x="3579824" y="2966581"/>
            <a:ext cx="4382112" cy="1981477"/>
          </a:xfrm>
          <a:prstGeom prst="rect">
            <a:avLst/>
          </a:prstGeom>
        </p:spPr>
      </p:pic>
      <p:sp>
        <p:nvSpPr>
          <p:cNvPr id="8" name="TextBox 7">
            <a:extLst>
              <a:ext uri="{FF2B5EF4-FFF2-40B4-BE49-F238E27FC236}">
                <a16:creationId xmlns:a16="http://schemas.microsoft.com/office/drawing/2014/main" id="{DA535CD7-80DE-5145-176F-EB7CC6174B94}"/>
              </a:ext>
            </a:extLst>
          </p:cNvPr>
          <p:cNvSpPr txBox="1"/>
          <p:nvPr/>
        </p:nvSpPr>
        <p:spPr>
          <a:xfrm>
            <a:off x="1056640" y="1031160"/>
            <a:ext cx="6096000" cy="369332"/>
          </a:xfrm>
          <a:prstGeom prst="rect">
            <a:avLst/>
          </a:prstGeom>
          <a:noFill/>
        </p:spPr>
        <p:txBody>
          <a:bodyPr wrap="square">
            <a:spAutoFit/>
          </a:bodyPr>
          <a:lstStyle/>
          <a:p>
            <a:pPr algn="l" fontAlgn="base"/>
            <a:r>
              <a:rPr lang="en-IN" b="1" i="0" dirty="0">
                <a:solidFill>
                  <a:srgbClr val="273239"/>
                </a:solidFill>
                <a:effectLst/>
                <a:highlight>
                  <a:srgbClr val="FFFFFF"/>
                </a:highlight>
                <a:latin typeface="Source Sans 3"/>
              </a:rPr>
              <a:t>Stochastic Gradient Descent (SGD)</a:t>
            </a:r>
          </a:p>
        </p:txBody>
      </p:sp>
    </p:spTree>
    <p:extLst>
      <p:ext uri="{BB962C8B-B14F-4D97-AF65-F5344CB8AC3E}">
        <p14:creationId xmlns:p14="http://schemas.microsoft.com/office/powerpoint/2010/main" val="29490637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47B1FF-6FDB-A93D-88AA-EED05D934EC6}"/>
              </a:ext>
            </a:extLst>
          </p:cNvPr>
          <p:cNvSpPr txBox="1"/>
          <p:nvPr/>
        </p:nvSpPr>
        <p:spPr>
          <a:xfrm>
            <a:off x="1016000" y="1680188"/>
            <a:ext cx="6096000" cy="369332"/>
          </a:xfrm>
          <a:prstGeom prst="rect">
            <a:avLst/>
          </a:prstGeom>
          <a:noFill/>
        </p:spPr>
        <p:txBody>
          <a:bodyPr wrap="square">
            <a:spAutoFit/>
          </a:bodyPr>
          <a:lstStyle/>
          <a:p>
            <a:pPr algn="l"/>
            <a:r>
              <a:rPr lang="en-IN" b="1" i="0" dirty="0">
                <a:solidFill>
                  <a:srgbClr val="242424"/>
                </a:solidFill>
                <a:effectLst/>
                <a:highlight>
                  <a:srgbClr val="FFFFFF"/>
                </a:highlight>
                <a:latin typeface="sohne"/>
              </a:rPr>
              <a:t>Adam  optimizer :</a:t>
            </a:r>
          </a:p>
        </p:txBody>
      </p:sp>
      <p:sp>
        <p:nvSpPr>
          <p:cNvPr id="9" name="TextBox 8">
            <a:extLst>
              <a:ext uri="{FF2B5EF4-FFF2-40B4-BE49-F238E27FC236}">
                <a16:creationId xmlns:a16="http://schemas.microsoft.com/office/drawing/2014/main" id="{1BF3E589-1C91-214F-ECA0-FCB172953DB9}"/>
              </a:ext>
            </a:extLst>
          </p:cNvPr>
          <p:cNvSpPr txBox="1"/>
          <p:nvPr/>
        </p:nvSpPr>
        <p:spPr>
          <a:xfrm>
            <a:off x="1016000" y="2260749"/>
            <a:ext cx="9080403" cy="646331"/>
          </a:xfrm>
          <a:prstGeom prst="rect">
            <a:avLst/>
          </a:prstGeom>
          <a:noFill/>
        </p:spPr>
        <p:txBody>
          <a:bodyPr wrap="square">
            <a:spAutoFit/>
          </a:bodyPr>
          <a:lstStyle/>
          <a:p>
            <a:pPr marL="285750" indent="-285750">
              <a:buFont typeface="Arial" panose="020B0604020202020204" pitchFamily="34" charset="0"/>
              <a:buChar char="•"/>
            </a:pPr>
            <a:r>
              <a:rPr lang="en-US" b="0" i="0" dirty="0">
                <a:solidFill>
                  <a:srgbClr val="242424"/>
                </a:solidFill>
                <a:effectLst/>
                <a:highlight>
                  <a:srgbClr val="FFFFFF"/>
                </a:highlight>
                <a:latin typeface="source-serif-pro"/>
              </a:rPr>
              <a:t>Essentially Adam is a </a:t>
            </a:r>
            <a:r>
              <a:rPr lang="en-US" b="1" i="0" dirty="0">
                <a:solidFill>
                  <a:srgbClr val="242424"/>
                </a:solidFill>
                <a:effectLst/>
                <a:highlight>
                  <a:srgbClr val="FFFFFF"/>
                </a:highlight>
                <a:latin typeface="source-serif-pro"/>
              </a:rPr>
              <a:t>combination</a:t>
            </a:r>
            <a:r>
              <a:rPr lang="en-US" b="0" i="0" dirty="0">
                <a:solidFill>
                  <a:srgbClr val="242424"/>
                </a:solidFill>
                <a:effectLst/>
                <a:highlight>
                  <a:srgbClr val="FFFFFF"/>
                </a:highlight>
                <a:latin typeface="source-serif-pro"/>
              </a:rPr>
              <a:t> of Momentum and </a:t>
            </a:r>
            <a:r>
              <a:rPr lang="en-US" b="0" i="0" dirty="0" err="1">
                <a:solidFill>
                  <a:srgbClr val="242424"/>
                </a:solidFill>
                <a:effectLst/>
                <a:highlight>
                  <a:srgbClr val="FFFFFF"/>
                </a:highlight>
                <a:latin typeface="source-serif-pro"/>
              </a:rPr>
              <a:t>RMSProp</a:t>
            </a:r>
            <a:r>
              <a:rPr lang="en-US" b="0" i="0" dirty="0">
                <a:solidFill>
                  <a:srgbClr val="242424"/>
                </a:solidFill>
                <a:effectLst/>
                <a:highlight>
                  <a:srgbClr val="FFFFFF"/>
                </a:highlight>
                <a:latin typeface="source-serif-pro"/>
              </a:rPr>
              <a:t>. It has reduced oscillation, a more smoothed path, and adaptive learning rate capabilities</a:t>
            </a:r>
            <a:endParaRPr lang="en-IN" dirty="0"/>
          </a:p>
        </p:txBody>
      </p:sp>
      <p:sp>
        <p:nvSpPr>
          <p:cNvPr id="11" name="TextBox 10">
            <a:extLst>
              <a:ext uri="{FF2B5EF4-FFF2-40B4-BE49-F238E27FC236}">
                <a16:creationId xmlns:a16="http://schemas.microsoft.com/office/drawing/2014/main" id="{AE1353A4-7D6F-D62F-A97E-65AEDC13A926}"/>
              </a:ext>
            </a:extLst>
          </p:cNvPr>
          <p:cNvSpPr txBox="1"/>
          <p:nvPr/>
        </p:nvSpPr>
        <p:spPr>
          <a:xfrm>
            <a:off x="889000" y="905581"/>
            <a:ext cx="10414000" cy="646331"/>
          </a:xfrm>
          <a:prstGeom prst="rect">
            <a:avLst/>
          </a:prstGeom>
          <a:noFill/>
        </p:spPr>
        <p:txBody>
          <a:bodyPr wrap="square">
            <a:spAutoFit/>
          </a:bodyPr>
          <a:lstStyle/>
          <a:p>
            <a:pPr marL="285750" indent="-285750">
              <a:buFont typeface="Arial" panose="020B0604020202020204" pitchFamily="34" charset="0"/>
              <a:buChar char="•"/>
            </a:pPr>
            <a:r>
              <a:rPr lang="en-US" dirty="0">
                <a:latin typeface="source-serif-pro"/>
              </a:rPr>
              <a:t>An optimizer is an algorithm that adjusts the parameters of a model to minimize the error between predicted and actual outcomes</a:t>
            </a:r>
            <a:endParaRPr lang="en-IN" dirty="0">
              <a:latin typeface="source-serif-pro"/>
            </a:endParaRPr>
          </a:p>
        </p:txBody>
      </p:sp>
      <p:pic>
        <p:nvPicPr>
          <p:cNvPr id="8" name="Picture 7">
            <a:extLst>
              <a:ext uri="{FF2B5EF4-FFF2-40B4-BE49-F238E27FC236}">
                <a16:creationId xmlns:a16="http://schemas.microsoft.com/office/drawing/2014/main" id="{7607EC84-CB4B-B561-CDEF-C15735FCC399}"/>
              </a:ext>
            </a:extLst>
          </p:cNvPr>
          <p:cNvPicPr>
            <a:picLocks noChangeAspect="1"/>
          </p:cNvPicPr>
          <p:nvPr/>
        </p:nvPicPr>
        <p:blipFill>
          <a:blip r:embed="rId2"/>
          <a:stretch>
            <a:fillRect/>
          </a:stretch>
        </p:blipFill>
        <p:spPr>
          <a:xfrm>
            <a:off x="2143198" y="3135860"/>
            <a:ext cx="3496163" cy="1267002"/>
          </a:xfrm>
          <a:prstGeom prst="rect">
            <a:avLst/>
          </a:prstGeom>
        </p:spPr>
      </p:pic>
      <p:pic>
        <p:nvPicPr>
          <p:cNvPr id="12" name="Picture 11">
            <a:extLst>
              <a:ext uri="{FF2B5EF4-FFF2-40B4-BE49-F238E27FC236}">
                <a16:creationId xmlns:a16="http://schemas.microsoft.com/office/drawing/2014/main" id="{4E1B5731-E940-9EEF-19E4-A25ED0915AA2}"/>
              </a:ext>
            </a:extLst>
          </p:cNvPr>
          <p:cNvPicPr>
            <a:picLocks noChangeAspect="1"/>
          </p:cNvPicPr>
          <p:nvPr/>
        </p:nvPicPr>
        <p:blipFill>
          <a:blip r:embed="rId3"/>
          <a:stretch>
            <a:fillRect/>
          </a:stretch>
        </p:blipFill>
        <p:spPr>
          <a:xfrm>
            <a:off x="6357454" y="2795933"/>
            <a:ext cx="3345345" cy="944250"/>
          </a:xfrm>
          <a:prstGeom prst="rect">
            <a:avLst/>
          </a:prstGeom>
        </p:spPr>
      </p:pic>
      <p:pic>
        <p:nvPicPr>
          <p:cNvPr id="14" name="Picture 13">
            <a:extLst>
              <a:ext uri="{FF2B5EF4-FFF2-40B4-BE49-F238E27FC236}">
                <a16:creationId xmlns:a16="http://schemas.microsoft.com/office/drawing/2014/main" id="{DAD2886C-5019-BE54-3992-A3725A3BAED6}"/>
              </a:ext>
            </a:extLst>
          </p:cNvPr>
          <p:cNvPicPr>
            <a:picLocks noChangeAspect="1"/>
          </p:cNvPicPr>
          <p:nvPr/>
        </p:nvPicPr>
        <p:blipFill>
          <a:blip r:embed="rId4"/>
          <a:stretch>
            <a:fillRect/>
          </a:stretch>
        </p:blipFill>
        <p:spPr>
          <a:xfrm>
            <a:off x="6552641" y="3740183"/>
            <a:ext cx="3345346" cy="903487"/>
          </a:xfrm>
          <a:prstGeom prst="rect">
            <a:avLst/>
          </a:prstGeom>
        </p:spPr>
      </p:pic>
      <p:sp>
        <p:nvSpPr>
          <p:cNvPr id="17" name="TextBox 16">
            <a:extLst>
              <a:ext uri="{FF2B5EF4-FFF2-40B4-BE49-F238E27FC236}">
                <a16:creationId xmlns:a16="http://schemas.microsoft.com/office/drawing/2014/main" id="{CD602AB9-5B45-F277-BBE3-DC96C73684A9}"/>
              </a:ext>
            </a:extLst>
          </p:cNvPr>
          <p:cNvSpPr txBox="1"/>
          <p:nvPr/>
        </p:nvSpPr>
        <p:spPr>
          <a:xfrm>
            <a:off x="1016000" y="5157613"/>
            <a:ext cx="768858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onsolas" panose="020B0609020204030204" pitchFamily="49" charset="0"/>
              </a:rPr>
              <a:t>V</a:t>
            </a:r>
            <a:r>
              <a:rPr kumimoji="0" lang="en-US" altLang="en-US" sz="1100" b="0" i="0" u="none" strike="noStrike" cap="none" normalizeH="0" baseline="-30000" dirty="0">
                <a:ln>
                  <a:noFill/>
                </a:ln>
                <a:solidFill>
                  <a:schemeClr val="tx1"/>
                </a:solidFill>
                <a:effectLst/>
                <a:latin typeface="Consolas" panose="020B0609020204030204" pitchFamily="49" charset="0"/>
              </a:rPr>
              <a:t>t</a:t>
            </a:r>
            <a:r>
              <a:rPr kumimoji="0" lang="en-US" altLang="en-US" sz="1800" b="0" i="0" u="none" strike="noStrike" cap="none" normalizeH="0" baseline="0" dirty="0">
                <a:ln>
                  <a:noFill/>
                </a:ln>
                <a:solidFill>
                  <a:schemeClr val="tx1"/>
                </a:solidFill>
                <a:effectLst/>
                <a:latin typeface="Consolas" panose="020B0609020204030204" pitchFamily="49" charset="0"/>
              </a:rPr>
              <a:t> = sum of square of past gradients. [</a:t>
            </a:r>
            <a:r>
              <a:rPr kumimoji="0" lang="en-US" altLang="en-US" sz="1800" b="0" i="0" u="none" strike="noStrike" cap="none" normalizeH="0" baseline="0" dirty="0" err="1">
                <a:ln>
                  <a:noFill/>
                </a:ln>
                <a:solidFill>
                  <a:schemeClr val="tx1"/>
                </a:solidFill>
                <a:effectLst/>
                <a:latin typeface="Consolas" panose="020B0609020204030204" pitchFamily="49" charset="0"/>
              </a:rPr>
              <a:t>i.e</a:t>
            </a:r>
            <a:r>
              <a:rPr kumimoji="0" lang="en-US" altLang="en-US" sz="1800" b="0" i="0" u="none" strike="noStrike" cap="none" normalizeH="0" baseline="0" dirty="0">
                <a:ln>
                  <a:noFill/>
                </a:ln>
                <a:solidFill>
                  <a:schemeClr val="tx1"/>
                </a:solidFill>
                <a:effectLst/>
                <a:latin typeface="Consolas" panose="020B0609020204030204" pitchFamily="49" charset="0"/>
              </a:rPr>
              <a:t> sum(∂L/∂Wt-1)]</a:t>
            </a:r>
            <a:r>
              <a:rPr kumimoji="0" lang="en-US" altLang="en-US" sz="1050" b="0" i="0" u="none" strike="noStrike" cap="none" normalizeH="0" baseline="0" dirty="0">
                <a:ln>
                  <a:noFill/>
                </a:ln>
                <a:solidFill>
                  <a:schemeClr val="tx1"/>
                </a:solidFill>
                <a:effectLst/>
              </a:rPr>
              <a:t>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20" name="TextBox 19">
            <a:extLst>
              <a:ext uri="{FF2B5EF4-FFF2-40B4-BE49-F238E27FC236}">
                <a16:creationId xmlns:a16="http://schemas.microsoft.com/office/drawing/2014/main" id="{79B6B1BB-C458-443F-0A1C-BD88B269EEE4}"/>
              </a:ext>
            </a:extLst>
          </p:cNvPr>
          <p:cNvSpPr txBox="1"/>
          <p:nvPr/>
        </p:nvSpPr>
        <p:spPr>
          <a:xfrm>
            <a:off x="1016000" y="5583087"/>
            <a:ext cx="621792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onsolas" panose="020B0609020204030204" pitchFamily="49" charset="0"/>
              </a:rPr>
              <a:t>m</a:t>
            </a:r>
            <a:r>
              <a:rPr kumimoji="0" lang="en-US" altLang="en-US" sz="1100" b="0" i="0" u="none" strike="noStrike" cap="none" normalizeH="0" baseline="-30000" dirty="0">
                <a:ln>
                  <a:noFill/>
                </a:ln>
                <a:solidFill>
                  <a:schemeClr val="tx1"/>
                </a:solidFill>
                <a:effectLst/>
                <a:latin typeface="Consolas" panose="020B0609020204030204" pitchFamily="49" charset="0"/>
              </a:rPr>
              <a:t>t </a:t>
            </a:r>
            <a:r>
              <a:rPr kumimoji="0" lang="en-US" altLang="en-US" sz="1800" b="0" i="0" u="none" strike="noStrike" cap="none" normalizeH="0" baseline="0" dirty="0">
                <a:ln>
                  <a:noFill/>
                </a:ln>
                <a:solidFill>
                  <a:schemeClr val="tx1"/>
                </a:solidFill>
                <a:effectLst/>
                <a:latin typeface="Consolas" panose="020B0609020204030204" pitchFamily="49" charset="0"/>
              </a:rPr>
              <a:t>= aggregate of gradients at time t [current]</a:t>
            </a:r>
            <a:r>
              <a:rPr kumimoji="0" lang="en-US" altLang="en-US" sz="1050" b="0" i="0" u="none" strike="noStrike" cap="none" normalizeH="0" baseline="0" dirty="0">
                <a:ln>
                  <a:noFill/>
                </a:ln>
                <a:solidFill>
                  <a:schemeClr val="tx1"/>
                </a:solidFill>
                <a:effectLst/>
              </a:rPr>
              <a:t>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23" name="TextBox 22">
            <a:extLst>
              <a:ext uri="{FF2B5EF4-FFF2-40B4-BE49-F238E27FC236}">
                <a16:creationId xmlns:a16="http://schemas.microsoft.com/office/drawing/2014/main" id="{2504D82B-522E-8FD6-2BB5-4733B8D1E468}"/>
              </a:ext>
            </a:extLst>
          </p:cNvPr>
          <p:cNvSpPr txBox="1"/>
          <p:nvPr/>
        </p:nvSpPr>
        <p:spPr>
          <a:xfrm>
            <a:off x="993140" y="5999999"/>
            <a:ext cx="8831580"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Consolas" panose="020B0609020204030204" pitchFamily="49" charset="0"/>
              </a:rPr>
              <a:t>β</a:t>
            </a:r>
            <a:r>
              <a:rPr kumimoji="0" lang="en-US" altLang="en-US" sz="1100" b="1" i="0" u="none" strike="noStrike" cap="none" normalizeH="0" baseline="-30000" dirty="0">
                <a:ln>
                  <a:noFill/>
                </a:ln>
                <a:solidFill>
                  <a:schemeClr val="tx1"/>
                </a:solidFill>
                <a:effectLst/>
                <a:latin typeface="Consolas" panose="020B0609020204030204" pitchFamily="49" charset="0"/>
              </a:rPr>
              <a:t>1 </a:t>
            </a:r>
            <a:r>
              <a:rPr kumimoji="0" lang="en-US" altLang="en-US" sz="1800" b="1" i="0" u="none" strike="noStrike" cap="none" normalizeH="0" baseline="0" dirty="0">
                <a:ln>
                  <a:noFill/>
                </a:ln>
                <a:solidFill>
                  <a:schemeClr val="tx1"/>
                </a:solidFill>
                <a:effectLst/>
                <a:latin typeface="Consolas" panose="020B0609020204030204" pitchFamily="49" charset="0"/>
              </a:rPr>
              <a:t>&amp; β</a:t>
            </a:r>
            <a:r>
              <a:rPr kumimoji="0" lang="en-US" altLang="en-US" sz="1100" b="1" i="0" u="none" strike="noStrike" cap="none" normalizeH="0" baseline="-30000" dirty="0">
                <a:ln>
                  <a:noFill/>
                </a:ln>
                <a:solidFill>
                  <a:schemeClr val="tx1"/>
                </a:solidFill>
                <a:effectLst/>
                <a:latin typeface="Consolas" panose="020B0609020204030204" pitchFamily="49" charset="0"/>
              </a:rPr>
              <a:t>2 </a:t>
            </a:r>
            <a:r>
              <a:rPr kumimoji="0" lang="en-US" altLang="en-US" sz="1800" b="1" i="0" u="none" strike="noStrike" cap="none" normalizeH="0" baseline="0" dirty="0">
                <a:ln>
                  <a:noFill/>
                </a:ln>
                <a:solidFill>
                  <a:schemeClr val="tx1"/>
                </a:solidFill>
                <a:effectLst/>
                <a:latin typeface="Consolas" panose="020B0609020204030204" pitchFamily="49" charset="0"/>
              </a:rPr>
              <a:t>= </a:t>
            </a:r>
            <a:r>
              <a:rPr kumimoji="0" lang="en-US" altLang="en-US" sz="1800" b="0" i="0" u="none" strike="noStrike" cap="none" normalizeH="0" baseline="0" dirty="0">
                <a:ln>
                  <a:noFill/>
                </a:ln>
                <a:solidFill>
                  <a:schemeClr val="tx1"/>
                </a:solidFill>
                <a:effectLst/>
                <a:latin typeface="Consolas" panose="020B0609020204030204" pitchFamily="49" charset="0"/>
              </a:rPr>
              <a:t>decay rates of average of gradients in the above two methods. (β</a:t>
            </a:r>
            <a:r>
              <a:rPr kumimoji="0" lang="en-US" altLang="en-US" sz="1100" b="0" i="0" u="none" strike="noStrike" cap="none" normalizeH="0" baseline="-30000" dirty="0">
                <a:ln>
                  <a:noFill/>
                </a:ln>
                <a:solidFill>
                  <a:schemeClr val="tx1"/>
                </a:solidFill>
                <a:effectLst/>
                <a:latin typeface="Consolas" panose="020B0609020204030204" pitchFamily="49" charset="0"/>
              </a:rPr>
              <a:t>1</a:t>
            </a:r>
            <a:r>
              <a:rPr kumimoji="0" lang="en-US" altLang="en-US" sz="1800" b="0" i="0" u="none" strike="noStrike" cap="none" normalizeH="0" baseline="0" dirty="0">
                <a:ln>
                  <a:noFill/>
                </a:ln>
                <a:solidFill>
                  <a:schemeClr val="tx1"/>
                </a:solidFill>
                <a:effectLst/>
                <a:latin typeface="Consolas" panose="020B0609020204030204" pitchFamily="49" charset="0"/>
              </a:rPr>
              <a:t> = 0.9 &amp; β</a:t>
            </a:r>
            <a:r>
              <a:rPr kumimoji="0" lang="en-US" altLang="en-US" sz="1100" b="0" i="0" u="none" strike="noStrike" cap="none" normalizeH="0" baseline="-30000" dirty="0">
                <a:ln>
                  <a:noFill/>
                </a:ln>
                <a:solidFill>
                  <a:schemeClr val="tx1"/>
                </a:solidFill>
                <a:effectLst/>
                <a:latin typeface="Consolas" panose="020B0609020204030204" pitchFamily="49" charset="0"/>
              </a:rPr>
              <a:t>2 </a:t>
            </a:r>
            <a:r>
              <a:rPr kumimoji="0" lang="en-US" altLang="en-US" sz="1800" b="0" i="0" u="none" strike="noStrike" cap="none" normalizeH="0" baseline="0" dirty="0">
                <a:ln>
                  <a:noFill/>
                </a:ln>
                <a:solidFill>
                  <a:schemeClr val="tx1"/>
                </a:solidFill>
                <a:effectLst/>
                <a:latin typeface="Consolas" panose="020B0609020204030204" pitchFamily="49" charset="0"/>
              </a:rPr>
              <a:t>= 0.999</a:t>
            </a:r>
            <a:r>
              <a:rPr kumimoji="0" lang="en-US" altLang="en-US" sz="1050" b="0" i="0" u="none" strike="noStrike" cap="none" normalizeH="0" baseline="0" dirty="0">
                <a:ln>
                  <a:noFill/>
                </a:ln>
                <a:solidFill>
                  <a:schemeClr val="tx1"/>
                </a:solidFill>
                <a:effectLst/>
              </a:rPr>
              <a:t>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648384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479E9F-F749-E2FE-BBAD-EE3A728150AE}"/>
              </a:ext>
            </a:extLst>
          </p:cNvPr>
          <p:cNvPicPr>
            <a:picLocks noChangeAspect="1"/>
          </p:cNvPicPr>
          <p:nvPr/>
        </p:nvPicPr>
        <p:blipFill>
          <a:blip r:embed="rId2"/>
          <a:stretch>
            <a:fillRect/>
          </a:stretch>
        </p:blipFill>
        <p:spPr>
          <a:xfrm>
            <a:off x="7251712" y="885843"/>
            <a:ext cx="3620015" cy="2715012"/>
          </a:xfrm>
          <a:prstGeom prst="rect">
            <a:avLst/>
          </a:prstGeom>
        </p:spPr>
      </p:pic>
      <p:pic>
        <p:nvPicPr>
          <p:cNvPr id="5" name="Picture 4">
            <a:extLst>
              <a:ext uri="{FF2B5EF4-FFF2-40B4-BE49-F238E27FC236}">
                <a16:creationId xmlns:a16="http://schemas.microsoft.com/office/drawing/2014/main" id="{C2B5E5B5-E7CD-AE7F-F186-8049AE48B87B}"/>
              </a:ext>
            </a:extLst>
          </p:cNvPr>
          <p:cNvPicPr>
            <a:picLocks noChangeAspect="1"/>
          </p:cNvPicPr>
          <p:nvPr/>
        </p:nvPicPr>
        <p:blipFill>
          <a:blip r:embed="rId3"/>
          <a:stretch>
            <a:fillRect/>
          </a:stretch>
        </p:blipFill>
        <p:spPr>
          <a:xfrm>
            <a:off x="849673" y="3387853"/>
            <a:ext cx="3124912" cy="1003529"/>
          </a:xfrm>
          <a:prstGeom prst="rect">
            <a:avLst/>
          </a:prstGeom>
        </p:spPr>
      </p:pic>
      <p:pic>
        <p:nvPicPr>
          <p:cNvPr id="7" name="Picture 6">
            <a:extLst>
              <a:ext uri="{FF2B5EF4-FFF2-40B4-BE49-F238E27FC236}">
                <a16:creationId xmlns:a16="http://schemas.microsoft.com/office/drawing/2014/main" id="{9FB3C5B0-8799-C235-6127-97A4522B5101}"/>
              </a:ext>
            </a:extLst>
          </p:cNvPr>
          <p:cNvPicPr>
            <a:picLocks noChangeAspect="1"/>
          </p:cNvPicPr>
          <p:nvPr/>
        </p:nvPicPr>
        <p:blipFill>
          <a:blip r:embed="rId4"/>
          <a:stretch>
            <a:fillRect/>
          </a:stretch>
        </p:blipFill>
        <p:spPr>
          <a:xfrm>
            <a:off x="919518" y="4681293"/>
            <a:ext cx="3163021" cy="1067043"/>
          </a:xfrm>
          <a:prstGeom prst="rect">
            <a:avLst/>
          </a:prstGeom>
        </p:spPr>
      </p:pic>
      <p:pic>
        <p:nvPicPr>
          <p:cNvPr id="9" name="Picture 8">
            <a:extLst>
              <a:ext uri="{FF2B5EF4-FFF2-40B4-BE49-F238E27FC236}">
                <a16:creationId xmlns:a16="http://schemas.microsoft.com/office/drawing/2014/main" id="{82784AAC-2EB8-2993-DA8E-E282757A94FC}"/>
              </a:ext>
            </a:extLst>
          </p:cNvPr>
          <p:cNvPicPr>
            <a:picLocks noChangeAspect="1"/>
          </p:cNvPicPr>
          <p:nvPr/>
        </p:nvPicPr>
        <p:blipFill>
          <a:blip r:embed="rId5"/>
          <a:stretch>
            <a:fillRect/>
          </a:stretch>
        </p:blipFill>
        <p:spPr>
          <a:xfrm>
            <a:off x="4190494" y="4376036"/>
            <a:ext cx="4547636" cy="1232181"/>
          </a:xfrm>
          <a:prstGeom prst="rect">
            <a:avLst/>
          </a:prstGeom>
        </p:spPr>
      </p:pic>
      <p:sp>
        <p:nvSpPr>
          <p:cNvPr id="11" name="TextBox 10">
            <a:extLst>
              <a:ext uri="{FF2B5EF4-FFF2-40B4-BE49-F238E27FC236}">
                <a16:creationId xmlns:a16="http://schemas.microsoft.com/office/drawing/2014/main" id="{736F505B-1B9A-4C26-368E-067C398D1814}"/>
              </a:ext>
            </a:extLst>
          </p:cNvPr>
          <p:cNvSpPr txBox="1"/>
          <p:nvPr/>
        </p:nvSpPr>
        <p:spPr>
          <a:xfrm>
            <a:off x="596900" y="1643185"/>
            <a:ext cx="5867412" cy="1200329"/>
          </a:xfrm>
          <a:prstGeom prst="rect">
            <a:avLst/>
          </a:prstGeom>
          <a:noFill/>
        </p:spPr>
        <p:txBody>
          <a:bodyPr wrap="square">
            <a:spAutoFit/>
          </a:bodyPr>
          <a:lstStyle/>
          <a:p>
            <a:pPr marL="285750" indent="-285750">
              <a:buFont typeface="Arial" panose="020B0604020202020204" pitchFamily="34" charset="0"/>
              <a:buChar char="•"/>
            </a:pPr>
            <a:r>
              <a:rPr lang="en-US" b="0" i="0" dirty="0">
                <a:solidFill>
                  <a:srgbClr val="242424"/>
                </a:solidFill>
                <a:effectLst/>
                <a:highlight>
                  <a:srgbClr val="FFFFFF"/>
                </a:highlight>
                <a:latin typeface="source-serif-pro"/>
              </a:rPr>
              <a:t>it is a performance measurement for machine learning classification problem where output can be two or more classes. It is a table with 4 different combinations of predicted and actual values.</a:t>
            </a:r>
            <a:endParaRPr lang="en-IN" dirty="0"/>
          </a:p>
        </p:txBody>
      </p:sp>
      <p:sp>
        <p:nvSpPr>
          <p:cNvPr id="13" name="TextBox 12">
            <a:extLst>
              <a:ext uri="{FF2B5EF4-FFF2-40B4-BE49-F238E27FC236}">
                <a16:creationId xmlns:a16="http://schemas.microsoft.com/office/drawing/2014/main" id="{F8FD0DD3-EBC1-9A54-8F61-B43AED736231}"/>
              </a:ext>
            </a:extLst>
          </p:cNvPr>
          <p:cNvSpPr txBox="1"/>
          <p:nvPr/>
        </p:nvSpPr>
        <p:spPr>
          <a:xfrm>
            <a:off x="712248" y="886263"/>
            <a:ext cx="6273788" cy="461665"/>
          </a:xfrm>
          <a:prstGeom prst="rect">
            <a:avLst/>
          </a:prstGeom>
          <a:noFill/>
        </p:spPr>
        <p:txBody>
          <a:bodyPr wrap="square">
            <a:spAutoFit/>
          </a:bodyPr>
          <a:lstStyle/>
          <a:p>
            <a:pPr algn="l"/>
            <a:r>
              <a:rPr lang="en-IN" sz="2400" b="1" i="0" u="sng" dirty="0">
                <a:solidFill>
                  <a:srgbClr val="242424"/>
                </a:solidFill>
                <a:effectLst/>
                <a:highlight>
                  <a:srgbClr val="FFFFFF"/>
                </a:highlight>
                <a:latin typeface="sohne"/>
              </a:rPr>
              <a:t>Confusion Matrix</a:t>
            </a:r>
          </a:p>
        </p:txBody>
      </p:sp>
    </p:spTree>
    <p:extLst>
      <p:ext uri="{BB962C8B-B14F-4D97-AF65-F5344CB8AC3E}">
        <p14:creationId xmlns:p14="http://schemas.microsoft.com/office/powerpoint/2010/main" val="1544686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D3D1999-F0CF-C8B8-B37E-1B2781BB42FB}"/>
              </a:ext>
            </a:extLst>
          </p:cNvPr>
          <p:cNvSpPr txBox="1"/>
          <p:nvPr/>
        </p:nvSpPr>
        <p:spPr>
          <a:xfrm>
            <a:off x="4003040" y="2863056"/>
            <a:ext cx="8818880" cy="923330"/>
          </a:xfrm>
          <a:prstGeom prst="rect">
            <a:avLst/>
          </a:prstGeom>
          <a:noFill/>
        </p:spPr>
        <p:txBody>
          <a:bodyPr wrap="square">
            <a:spAutoFit/>
          </a:bodyPr>
          <a:lstStyle/>
          <a:p>
            <a:r>
              <a:rPr lang="en-US" sz="5400" u="sng" dirty="0"/>
              <a:t>THANK YOU</a:t>
            </a:r>
            <a:endParaRPr lang="en-IN" sz="5400" u="sng" dirty="0"/>
          </a:p>
        </p:txBody>
      </p:sp>
    </p:spTree>
    <p:extLst>
      <p:ext uri="{BB962C8B-B14F-4D97-AF65-F5344CB8AC3E}">
        <p14:creationId xmlns:p14="http://schemas.microsoft.com/office/powerpoint/2010/main" val="20672535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88A2F88-55C5-4ED1-9541-807C65424763}">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4F44C90D-2A62-4985-9618-3460247437B1}">
  <ds:schemaRefs>
    <ds:schemaRef ds:uri="http://schemas.microsoft.com/sharepoint/v3/contenttype/forms"/>
  </ds:schemaRefs>
</ds:datastoreItem>
</file>

<file path=customXml/itemProps3.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Integral design</Template>
  <TotalTime>792</TotalTime>
  <Words>911</Words>
  <Application>Microsoft Office PowerPoint</Application>
  <PresentationFormat>Widescreen</PresentationFormat>
  <Paragraphs>50</Paragraphs>
  <Slides>16</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16</vt:i4>
      </vt:variant>
    </vt:vector>
  </HeadingPairs>
  <TitlesOfParts>
    <vt:vector size="27" baseType="lpstr">
      <vt:lpstr> source-serif-pro</vt:lpstr>
      <vt:lpstr>Arial</vt:lpstr>
      <vt:lpstr>Calibri</vt:lpstr>
      <vt:lpstr>Consolas</vt:lpstr>
      <vt:lpstr>sohne</vt:lpstr>
      <vt:lpstr>Source Sans 3</vt:lpstr>
      <vt:lpstr>source-serif-pro</vt:lpstr>
      <vt:lpstr>Tw Cen MT</vt:lpstr>
      <vt:lpstr>Tw Cen MT Condensed</vt:lpstr>
      <vt:lpstr>Wingdings 3</vt:lpstr>
      <vt:lpstr>Integral</vt:lpstr>
      <vt:lpstr> GENERATIVE NEUROLOGIST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NEUROLOGIST</dc:title>
  <dc:creator>jinuka srujan</dc:creator>
  <cp:lastModifiedBy>jinuka srujan</cp:lastModifiedBy>
  <cp:revision>8</cp:revision>
  <dcterms:created xsi:type="dcterms:W3CDTF">2024-04-30T12:10:37Z</dcterms:created>
  <dcterms:modified xsi:type="dcterms:W3CDTF">2024-07-02T02:03:58Z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