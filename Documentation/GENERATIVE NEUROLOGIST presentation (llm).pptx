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56" r:id="rId2"/>
    <p:sldId id="265" r:id="rId3"/>
    <p:sldId id="257" r:id="rId4"/>
    <p:sldId id="258" r:id="rId5"/>
    <p:sldId id="259" r:id="rId6"/>
    <p:sldId id="261" r:id="rId7"/>
    <p:sldId id="263" r:id="rId8"/>
    <p:sldId id="260" r:id="rId9"/>
    <p:sldId id="262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F41C94-80B5-4F69-B902-43DCBE767C41}" type="datetimeFigureOut">
              <a:rPr lang="en-IN" smtClean="0"/>
              <a:t>17-07-2024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3B24B-25C1-4998-A0C9-DB4D83E5F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536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F3B24B-25C1-4998-A0C9-DB4D83E5F08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789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F3B24B-25C1-4998-A0C9-DB4D83E5F08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209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5E657-571B-68E4-5949-6359F5AB5C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1"/>
            <a:ext cx="9602787" cy="1350390"/>
          </a:xfrm>
        </p:spPr>
        <p:txBody>
          <a:bodyPr>
            <a:normAutofit/>
          </a:bodyPr>
          <a:lstStyle/>
          <a:p>
            <a:r>
              <a:rPr lang="en-IN" dirty="0"/>
              <a:t>GENERATIVE NEUROLOGIST</a:t>
            </a:r>
          </a:p>
        </p:txBody>
      </p:sp>
    </p:spTree>
    <p:extLst>
      <p:ext uri="{BB962C8B-B14F-4D97-AF65-F5344CB8AC3E}">
        <p14:creationId xmlns:p14="http://schemas.microsoft.com/office/powerpoint/2010/main" val="1817614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206B7-1A2F-8AC3-793C-4D2AD50B10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8021F9-7E45-3C06-D50F-41C47D8C4B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FDFE2A3B-1FD2-2D12-C8B1-C25A8B062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89" y="1157061"/>
            <a:ext cx="11984611" cy="56891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34C8A7-22EB-0B9F-571D-F8FE92163878}"/>
              </a:ext>
            </a:extLst>
          </p:cNvPr>
          <p:cNvSpPr txBox="1"/>
          <p:nvPr/>
        </p:nvSpPr>
        <p:spPr>
          <a:xfrm>
            <a:off x="3074796" y="522514"/>
            <a:ext cx="5215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WORK FLOW</a:t>
            </a:r>
          </a:p>
        </p:txBody>
      </p:sp>
    </p:spTree>
    <p:extLst>
      <p:ext uri="{BB962C8B-B14F-4D97-AF65-F5344CB8AC3E}">
        <p14:creationId xmlns:p14="http://schemas.microsoft.com/office/powerpoint/2010/main" val="555659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3B700-6066-EE5E-D32E-C29F6BF56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UNETR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909E8-083B-79E3-E3FA-3987193D7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4400" y="1579760"/>
            <a:ext cx="5282152" cy="4262436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UNETR (</a:t>
            </a:r>
            <a:r>
              <a:rPr lang="en-US" dirty="0" err="1"/>
              <a:t>UNet</a:t>
            </a:r>
            <a:r>
              <a:rPr lang="en-US" dirty="0"/>
              <a:t> Transformer) is a novel deep learning model that combines the strengths of the U-Net architecture with Transformer-based encoders.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 It is designed for 3D medical image segmentation but it can also used for 2D offering improved accuracy by capturing global context and long-range dependencies.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This hybrid approach enhances performance in tasks like tumor segmentation, making it significant in medical imaging.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6DCC199-1056-AA27-997F-F1E8150C03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722579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90D91-C784-4A1A-566E-2A08DD138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8CDED-FD37-67B8-AAFC-62E377D3E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WORK FLOW</a:t>
            </a:r>
          </a:p>
          <a:p>
            <a:pPr marL="0" indent="0">
              <a:buNone/>
            </a:pPr>
            <a:r>
              <a:rPr lang="en-US" dirty="0"/>
              <a:t>Large Language Model</a:t>
            </a:r>
          </a:p>
          <a:p>
            <a:pPr marL="0" indent="0">
              <a:buNone/>
            </a:pPr>
            <a:r>
              <a:rPr lang="en-US" dirty="0"/>
              <a:t>	Segmentation using UNETR</a:t>
            </a:r>
          </a:p>
          <a:p>
            <a:pPr marL="0" indent="0">
              <a:buNone/>
            </a:pPr>
            <a:r>
              <a:rPr lang="en-US" dirty="0"/>
              <a:t>	Classification using VITs</a:t>
            </a:r>
          </a:p>
          <a:p>
            <a:pPr marL="0" indent="0">
              <a:buNone/>
            </a:pPr>
            <a:r>
              <a:rPr lang="en-US" dirty="0"/>
              <a:t>Deep Learning Model</a:t>
            </a:r>
          </a:p>
          <a:p>
            <a:pPr marL="0" indent="0">
              <a:buNone/>
            </a:pPr>
            <a:r>
              <a:rPr lang="en-US" dirty="0"/>
              <a:t>	Segmentation using UNET</a:t>
            </a:r>
          </a:p>
          <a:p>
            <a:pPr marL="0" indent="0">
              <a:buNone/>
            </a:pPr>
            <a:r>
              <a:rPr lang="en-US" dirty="0"/>
              <a:t>	Classification using VGG16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2890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1465B40-D34D-90E2-375C-C366593E1E0B}"/>
              </a:ext>
            </a:extLst>
          </p:cNvPr>
          <p:cNvSpPr/>
          <p:nvPr/>
        </p:nvSpPr>
        <p:spPr>
          <a:xfrm>
            <a:off x="7275872" y="3636757"/>
            <a:ext cx="4916128" cy="277515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7027D1-9F4F-B961-2144-9E000DC11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446088"/>
            <a:ext cx="5367011" cy="779397"/>
          </a:xfrm>
        </p:spPr>
        <p:txBody>
          <a:bodyPr/>
          <a:lstStyle/>
          <a:p>
            <a:r>
              <a:rPr lang="en-IN" dirty="0"/>
              <a:t>PATCH &amp; POSITOIN EMBEDDING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2CFC4B-07AE-1C1F-60B8-957CC07983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079" t="5363" r="52529" b="16691"/>
          <a:stretch/>
        </p:blipFill>
        <p:spPr>
          <a:xfrm>
            <a:off x="7330910" y="1196091"/>
            <a:ext cx="4719484" cy="222093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56B2D-A29A-51FA-9D1F-E31192934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3564" y="1363681"/>
            <a:ext cx="6469624" cy="6591160"/>
          </a:xfrm>
        </p:spPr>
        <p:txBody>
          <a:bodyPr>
            <a:normAutofit lnSpcReduction="10000"/>
          </a:bodyPr>
          <a:lstStyle/>
          <a:p>
            <a:r>
              <a:rPr lang="en-IN" sz="1800" b="1" dirty="0"/>
              <a:t>              </a:t>
            </a:r>
            <a:r>
              <a:rPr lang="en-IN" sz="1800" b="1" u="sng" dirty="0"/>
              <a:t>Patch embedding:</a:t>
            </a:r>
          </a:p>
          <a:p>
            <a:pPr marL="285750" indent="-285750">
              <a:lnSpc>
                <a:spcPct val="170000"/>
              </a:lnSpc>
              <a:buFont typeface="Courier New" panose="02070309020205020404" pitchFamily="49" charset="0"/>
              <a:buChar char="o"/>
            </a:pPr>
            <a:r>
              <a:rPr lang="en-US" sz="1600" dirty="0"/>
              <a:t>A patch embedding layer maps patches of pixels to vectors by dividing an input image into fixed-size patches, flattening them, and linearly projecting them into a higher-dimensional space.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900" b="1" dirty="0" err="1"/>
              <a:t>PatchEmbedding</a:t>
            </a:r>
            <a:r>
              <a:rPr lang="en-IN" sz="1900" b="1" dirty="0"/>
              <a:t> = FlattenedPatch⋅W+b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2000" dirty="0"/>
          </a:p>
          <a:p>
            <a:r>
              <a:rPr lang="en-IN" sz="2000" b="1" dirty="0"/>
              <a:t>         </a:t>
            </a:r>
            <a:r>
              <a:rPr lang="en-IN" sz="2000" b="1" u="sng" dirty="0"/>
              <a:t>Position embedding:</a:t>
            </a:r>
          </a:p>
          <a:p>
            <a:pPr marL="285750" indent="-285750"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en-US" sz="1700" dirty="0"/>
              <a:t>positional embeddings are order or positional identifiers added to the original embedding vectors for the transformer architecture to incorporate the order of the sequence</a:t>
            </a:r>
          </a:p>
          <a:p>
            <a:pPr marL="1200150" lvl="2" indent="-285750"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en-US" sz="1300" b="1" dirty="0" err="1"/>
              <a:t>PosEmbedding</a:t>
            </a:r>
            <a:r>
              <a:rPr lang="en-US" sz="1300" b="1" dirty="0"/>
              <a:t>[</a:t>
            </a:r>
            <a:r>
              <a:rPr lang="en-US" sz="1300" b="1" dirty="0" err="1"/>
              <a:t>i</a:t>
            </a:r>
            <a:r>
              <a:rPr lang="en-US" sz="1300" b="1" dirty="0"/>
              <a:t>]=</a:t>
            </a:r>
            <a:r>
              <a:rPr lang="en-US" sz="1300" b="1" dirty="0" err="1"/>
              <a:t>TrainableParameter</a:t>
            </a:r>
            <a:r>
              <a:rPr lang="en-US" sz="1300" b="1" dirty="0"/>
              <a:t>[</a:t>
            </a:r>
            <a:r>
              <a:rPr lang="en-US" sz="1300" b="1" dirty="0" err="1"/>
              <a:t>i</a:t>
            </a:r>
            <a:r>
              <a:rPr lang="en-US" sz="1300" b="1" dirty="0"/>
              <a:t>]</a:t>
            </a:r>
            <a:endParaRPr lang="en-IN" sz="1700" dirty="0"/>
          </a:p>
          <a:p>
            <a:endParaRPr lang="en-US" sz="1700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1600" dirty="0"/>
          </a:p>
          <a:p>
            <a:r>
              <a:rPr lang="en-IN" sz="18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5303C3-11E2-0489-3D8C-346E45800941}"/>
              </a:ext>
            </a:extLst>
          </p:cNvPr>
          <p:cNvSpPr txBox="1"/>
          <p:nvPr/>
        </p:nvSpPr>
        <p:spPr>
          <a:xfrm>
            <a:off x="8841128" y="2968719"/>
            <a:ext cx="2800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Patch embedding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42956A-8BE5-A481-777A-7ED65D3634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304" t="19552" r="5593" b="16239"/>
          <a:stretch/>
        </p:blipFill>
        <p:spPr>
          <a:xfrm>
            <a:off x="7275872" y="3660715"/>
            <a:ext cx="4632516" cy="22909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450CE7-49EB-9D5A-EA36-7AEA9C420CBC}"/>
              </a:ext>
            </a:extLst>
          </p:cNvPr>
          <p:cNvSpPr txBox="1"/>
          <p:nvPr/>
        </p:nvSpPr>
        <p:spPr>
          <a:xfrm>
            <a:off x="8644482" y="5989426"/>
            <a:ext cx="2996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Position embedding</a:t>
            </a:r>
          </a:p>
        </p:txBody>
      </p:sp>
    </p:spTree>
    <p:extLst>
      <p:ext uri="{BB962C8B-B14F-4D97-AF65-F5344CB8AC3E}">
        <p14:creationId xmlns:p14="http://schemas.microsoft.com/office/powerpoint/2010/main" val="2297880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6C106-0E34-20A4-7DEF-A421A04E4C0F}"/>
              </a:ext>
            </a:extLst>
          </p:cNvPr>
          <p:cNvSpPr txBox="1">
            <a:spLocks/>
          </p:cNvSpPr>
          <p:nvPr/>
        </p:nvSpPr>
        <p:spPr>
          <a:xfrm>
            <a:off x="1607159" y="155883"/>
            <a:ext cx="7965461" cy="994164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MULTILAYER PERCEPTRON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3A8A5-E335-0EDC-88B4-A504BECBCBA0}"/>
              </a:ext>
            </a:extLst>
          </p:cNvPr>
          <p:cNvSpPr txBox="1">
            <a:spLocks/>
          </p:cNvSpPr>
          <p:nvPr/>
        </p:nvSpPr>
        <p:spPr>
          <a:xfrm>
            <a:off x="4854103" y="1890887"/>
            <a:ext cx="6571924" cy="4363998"/>
          </a:xfrm>
          <a:prstGeom prst="rect">
            <a:avLst/>
          </a:prstGeom>
        </p:spPr>
        <p:txBody>
          <a:bodyPr/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	</a:t>
            </a:r>
          </a:p>
        </p:txBody>
      </p:sp>
      <p:pic>
        <p:nvPicPr>
          <p:cNvPr id="4" name="Picture 3" descr="Deep Learning Simplified: Feel and Talk like an Expert in Neural… – Towards  AI">
            <a:extLst>
              <a:ext uri="{FF2B5EF4-FFF2-40B4-BE49-F238E27FC236}">
                <a16:creationId xmlns:a16="http://schemas.microsoft.com/office/drawing/2014/main" id="{13A5A324-90EC-FB10-02DD-A914F1881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212" y="1457608"/>
            <a:ext cx="4591546" cy="3367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3849BC-216F-F304-0608-57BA728AD3E3}"/>
                  </a:ext>
                </a:extLst>
              </p:cNvPr>
              <p:cNvSpPr txBox="1"/>
              <p:nvPr/>
            </p:nvSpPr>
            <p:spPr>
              <a:xfrm>
                <a:off x="866904" y="1583326"/>
                <a:ext cx="6278953" cy="4979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en-US" b="1" dirty="0"/>
                  <a:t>Feed forward propagation</a:t>
                </a:r>
              </a:p>
              <a:p>
                <a:pPr lvl="1" algn="ctr"/>
                <a:r>
                  <a:rPr lang="en-IN" sz="2400" b="1" dirty="0">
                    <a:solidFill>
                      <a:schemeClr val="accent6"/>
                    </a:solidFill>
                  </a:rPr>
                  <a:t>z=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IN" sz="24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IN" sz="24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𝒊𝒏𝒑</m:t>
                        </m:r>
                        <m:r>
                          <a:rPr lang="en-IN" sz="24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IN" sz="2400" b="1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IN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IN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4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sz="24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𝒊𝒏𝒑</m:t>
                            </m:r>
                          </m:sub>
                        </m:sSub>
                        <m:r>
                          <a:rPr lang="en-IN" sz="24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400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sz="24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𝒐𝒖𝒕</m:t>
                            </m:r>
                          </m:sub>
                        </m:sSub>
                        <m:r>
                          <a:rPr lang="en-IN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IN" sz="2400" b="1" dirty="0">
                    <a:solidFill>
                      <a:schemeClr val="accent6"/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sSub>
                          <m:sSubPr>
                            <m:ctrlPr>
                              <a:rPr lang="en-IN" sz="2400" b="1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1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sz="2400" b="1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𝒐𝒖𝒕</m:t>
                            </m:r>
                          </m:sub>
                        </m:sSub>
                      </m:sub>
                    </m:sSub>
                  </m:oMath>
                </a14:m>
                <a:endParaRPr lang="en-IN" sz="2400" b="1" dirty="0"/>
              </a:p>
              <a:p>
                <a:pPr lvl="1"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1,3072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1,256∗768</m:t>
                        </m:r>
                      </m:sub>
                    </m:sSub>
                  </m:oMath>
                </a14:m>
                <a:r>
                  <a:rPr lang="en-US" sz="2400" dirty="0"/>
                  <a:t>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256∗768,3072</m:t>
                        </m:r>
                      </m:sub>
                    </m:sSub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eqArr>
                          <m:eqArrPr>
                            <m:ctrlPr>
                              <a:rPr lang="en-I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IN" sz="2400" b="0" i="1" dirty="0" smtClean="0">
                                <a:latin typeface="Cambria Math" panose="02040503050406030204" pitchFamily="18" charset="0"/>
                              </a:rPr>
                              <m:t>3072</m:t>
                            </m:r>
                          </m:e>
                          <m:e/>
                        </m:eqArr>
                      </m:sub>
                    </m:sSub>
                  </m:oMath>
                </a14:m>
                <a:endParaRPr lang="en-US" sz="2400" dirty="0"/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en-US" b="1" dirty="0"/>
                  <a:t>Activation function</a:t>
                </a:r>
              </a:p>
              <a:p>
                <a:pPr lvl="1"/>
                <a:r>
                  <a:rPr lang="en-US" dirty="0"/>
                  <a:t>	</a:t>
                </a:r>
                <a:r>
                  <a:rPr lang="en-IN" b="1" dirty="0">
                    <a:solidFill>
                      <a:schemeClr val="accent6"/>
                    </a:solidFill>
                  </a:rPr>
                  <a:t> GELU(x)≈0.5x(1+tanh(</a:t>
                </a:r>
                <a:r>
                  <a:rPr lang="el-GR" b="1" dirty="0">
                    <a:solidFill>
                      <a:schemeClr val="accent6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√</a:t>
                </a:r>
                <a:r>
                  <a:rPr lang="el-GR" b="1" dirty="0">
                    <a:solidFill>
                      <a:schemeClr val="accent6"/>
                    </a:solidFill>
                  </a:rPr>
                  <a:t>2</a:t>
                </a:r>
                <a:r>
                  <a:rPr lang="en-IN" b="1" dirty="0">
                    <a:solidFill>
                      <a:schemeClr val="accent6"/>
                    </a:solidFill>
                  </a:rPr>
                  <a:t>/</a:t>
                </a:r>
                <a:r>
                  <a:rPr lang="el-GR" b="1" dirty="0">
                    <a:solidFill>
                      <a:schemeClr val="accent6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π</a:t>
                </a:r>
                <a:r>
                  <a:rPr lang="el-GR" b="1" dirty="0">
                    <a:solidFill>
                      <a:schemeClr val="accent6"/>
                    </a:solidFill>
                  </a:rPr>
                  <a:t>​​(</a:t>
                </a:r>
                <a:r>
                  <a:rPr lang="en-IN" b="1" dirty="0">
                    <a:solidFill>
                      <a:schemeClr val="accent6"/>
                    </a:solidFill>
                  </a:rPr>
                  <a:t>x+0.044715x^3)))</a:t>
                </a:r>
                <a:endParaRPr lang="en-US" b="1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b="1" dirty="0"/>
                  <a:t>		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en-US" b="1" dirty="0"/>
                  <a:t>Loss function</a:t>
                </a:r>
              </a:p>
              <a:p>
                <a:pPr lvl="1"/>
                <a:r>
                  <a:rPr lang="en-US" b="1" dirty="0"/>
                  <a:t>	</a:t>
                </a:r>
              </a:p>
              <a:p>
                <a:pPr lvl="1"/>
                <a:r>
                  <a:rPr lang="en-US" b="1" dirty="0"/>
                  <a:t>	</a:t>
                </a:r>
              </a:p>
              <a:p>
                <a:pPr lvl="1"/>
                <a:endParaRPr lang="en-US" b="1" dirty="0"/>
              </a:p>
              <a:p>
                <a:pPr lvl="1"/>
                <a:endParaRPr lang="en-US" b="1" dirty="0"/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en-US" b="1" u="sng" dirty="0"/>
                  <a:t>Backward propagation</a:t>
                </a:r>
              </a:p>
              <a:p>
                <a:pPr lvl="1"/>
                <a:r>
                  <a:rPr lang="en-US" dirty="0"/>
                  <a:t>	</a:t>
                </a:r>
              </a:p>
              <a:p>
                <a:pPr lvl="1"/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3849BC-216F-F304-0608-57BA728AD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904" y="1583326"/>
                <a:ext cx="6278953" cy="4979120"/>
              </a:xfrm>
              <a:prstGeom prst="rect">
                <a:avLst/>
              </a:prstGeom>
              <a:blipFill>
                <a:blip r:embed="rId3"/>
                <a:stretch>
                  <a:fillRect t="-7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D96CC31-728C-50A8-E584-6AAAAF5A6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1160" y="4072886"/>
            <a:ext cx="3040019" cy="9233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5272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D35B-5D90-3412-8CF5-FFA8C715B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 HEAD ATTENTION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9E36A6-D3AE-4412-4548-D5D264966E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7141" r="4260" b="14006"/>
          <a:stretch/>
        </p:blipFill>
        <p:spPr>
          <a:xfrm>
            <a:off x="6702458" y="876541"/>
            <a:ext cx="4573909" cy="373695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1A3C51-BD70-1F39-502B-6FDD40354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4113246" cy="5122698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Multi-head attention is a mechanism used in transformer-based architectures, designed to enhance the model's ability to focus on different parts of the input data simultaneously.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u="sng" dirty="0"/>
              <a:t>QKV</a:t>
            </a:r>
            <a:r>
              <a:rPr lang="en-US" sz="1400" b="1" dirty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 (Q)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used to represent what to attend to in other parts of the image.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Key (K)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used to represent the relationship between the current patch and other patches.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Value (V)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contain information that will be combined according to the attention weights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BA121B-D42D-7A4B-9466-733E455F1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458" y="4232466"/>
            <a:ext cx="3939881" cy="3810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E28979-C776-B534-2D4F-0164D182F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458" y="4789712"/>
            <a:ext cx="2400508" cy="5944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6F9CF3-EEDE-F00A-EC22-B6D27724E4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458" y="5696452"/>
            <a:ext cx="3939881" cy="92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539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097B-171A-9462-B1B7-937E26383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5FFB0BE6-6AFC-56DA-66E1-C238896B5360}"/>
              </a:ext>
            </a:extLst>
          </p:cNvPr>
          <p:cNvSpPr txBox="1">
            <a:spLocks/>
          </p:cNvSpPr>
          <p:nvPr/>
        </p:nvSpPr>
        <p:spPr>
          <a:xfrm>
            <a:off x="1784082" y="384526"/>
            <a:ext cx="7124248" cy="12851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b="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/>
              <a:t>Convolution  &amp; Deconvolution blocks</a:t>
            </a:r>
            <a:br>
              <a:rPr lang="en-US" dirty="0"/>
            </a:b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985C6BB-00DC-94A9-EF7F-91E2D4BF54B9}"/>
              </a:ext>
            </a:extLst>
          </p:cNvPr>
          <p:cNvSpPr txBox="1">
            <a:spLocks/>
          </p:cNvSpPr>
          <p:nvPr/>
        </p:nvSpPr>
        <p:spPr>
          <a:xfrm>
            <a:off x="7197442" y="6250321"/>
            <a:ext cx="5829147" cy="369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Deconvolution</a:t>
            </a:r>
            <a:r>
              <a:rPr lang="en-US" dirty="0"/>
              <a:t> 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88F344D5-A5F7-63B9-27FF-0F256B4AEA5A}"/>
              </a:ext>
            </a:extLst>
          </p:cNvPr>
          <p:cNvSpPr txBox="1">
            <a:spLocks/>
          </p:cNvSpPr>
          <p:nvPr/>
        </p:nvSpPr>
        <p:spPr>
          <a:xfrm>
            <a:off x="7940842" y="2303028"/>
            <a:ext cx="3485184" cy="396159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/>
              <a:t> </a:t>
            </a:r>
            <a:endParaRPr lang="en-US" dirty="0"/>
          </a:p>
        </p:txBody>
      </p:sp>
      <p:pic>
        <p:nvPicPr>
          <p:cNvPr id="13" name="Picture 2" descr="Deconvolutions and what to do about artifacts -">
            <a:extLst>
              <a:ext uri="{FF2B5EF4-FFF2-40B4-BE49-F238E27FC236}">
                <a16:creationId xmlns:a16="http://schemas.microsoft.com/office/drawing/2014/main" id="{5B0AAE4A-5205-BC69-D0A7-B3F3E2EE5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8460" y="3881418"/>
            <a:ext cx="3227110" cy="2222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Types of Convolution Kernels : Simplified | by Prakhar Ganesh | Towards  Data Science">
            <a:extLst>
              <a:ext uri="{FF2B5EF4-FFF2-40B4-BE49-F238E27FC236}">
                <a16:creationId xmlns:a16="http://schemas.microsoft.com/office/drawing/2014/main" id="{F34D41E6-A460-3F9C-AB7C-2F770D129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434" y="1270144"/>
            <a:ext cx="3227110" cy="2222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C3CCC91-AC59-3BF6-4A98-00E8D354676D}"/>
              </a:ext>
            </a:extLst>
          </p:cNvPr>
          <p:cNvSpPr txBox="1"/>
          <p:nvPr/>
        </p:nvSpPr>
        <p:spPr>
          <a:xfrm>
            <a:off x="8356715" y="3485547"/>
            <a:ext cx="2964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convolution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8BB50C-F042-124C-5820-9EB5555426E1}"/>
              </a:ext>
            </a:extLst>
          </p:cNvPr>
          <p:cNvSpPr txBox="1"/>
          <p:nvPr/>
        </p:nvSpPr>
        <p:spPr>
          <a:xfrm>
            <a:off x="655013" y="1947996"/>
            <a:ext cx="745829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Convolution layer: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dirty="0"/>
              <a:t>the convolution layer extracts features by sliding a filter over input image patches.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dirty="0"/>
              <a:t>This layer captures local patterns and prepares data for further processing by transformer blocks.</a:t>
            </a:r>
            <a:endParaRPr lang="en-US" altLang="en-US" b="1" dirty="0">
              <a:solidFill>
                <a:schemeClr val="tx1">
                  <a:lumMod val="95000"/>
                  <a:lumOff val="5000"/>
                </a:schemeClr>
              </a:solidFill>
              <a:latin typeface="JetBrains Mono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etBrains Mono"/>
              </a:rPr>
              <a:t>o/p=[(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etBrains Mono"/>
              </a:rPr>
              <a:t>ip_size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etBrains Mono"/>
              </a:rPr>
              <a:t> - kernel_size+2padding layers)/stride]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A04AEA-74ED-5117-EFC3-06E3A891FC61}"/>
              </a:ext>
            </a:extLst>
          </p:cNvPr>
          <p:cNvSpPr txBox="1"/>
          <p:nvPr/>
        </p:nvSpPr>
        <p:spPr>
          <a:xfrm>
            <a:off x="1456291" y="4121821"/>
            <a:ext cx="7216369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Deconvolution  Layer</a:t>
            </a:r>
            <a:r>
              <a:rPr lang="en-IN" b="1" dirty="0">
                <a:solidFill>
                  <a:srgbClr val="002060"/>
                </a:solidFill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entury Gothic (Body)"/>
              </a:rPr>
              <a:t>A deconvolution block is a network component used for increasing the spatial   resolution of feature maps.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entury Gothic (Body)"/>
              </a:rPr>
              <a:t>It performs </a:t>
            </a:r>
            <a:r>
              <a:rPr lang="en-US" sz="1600" dirty="0" err="1">
                <a:latin typeface="Century Gothic (Body)"/>
              </a:rPr>
              <a:t>upsampling</a:t>
            </a:r>
            <a:r>
              <a:rPr lang="en-US" sz="1600" dirty="0">
                <a:latin typeface="Century Gothic (Body)"/>
              </a:rPr>
              <a:t> by learning to reconstruct finer details from lower-resolution inputs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b="1" dirty="0">
              <a:solidFill>
                <a:srgbClr val="002060"/>
              </a:solidFill>
              <a:latin typeface="Century Gothic (Body)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634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2B2C780-839A-7630-5CDB-70F4F9A4248B}"/>
              </a:ext>
            </a:extLst>
          </p:cNvPr>
          <p:cNvSpPr txBox="1">
            <a:spLocks/>
          </p:cNvSpPr>
          <p:nvPr/>
        </p:nvSpPr>
        <p:spPr>
          <a:xfrm>
            <a:off x="3775324" y="1694468"/>
            <a:ext cx="7965461" cy="3469064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chemeClr val="accent1">
                    <a:lumMod val="5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75509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5E657-571B-68E4-5949-6359F5AB5C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1"/>
            <a:ext cx="9602787" cy="1350390"/>
          </a:xfrm>
        </p:spPr>
        <p:txBody>
          <a:bodyPr>
            <a:normAutofit/>
          </a:bodyPr>
          <a:lstStyle/>
          <a:p>
            <a:r>
              <a:rPr lang="en-IN" dirty="0"/>
              <a:t>GENERATIVE NEUROLOGIST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694EA-6087-D05A-DD65-4252E794DE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4412" y="3864991"/>
            <a:ext cx="2124189" cy="1126283"/>
          </a:xfrm>
        </p:spPr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92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90D91-C784-4A1A-566E-2A08DD138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8CDED-FD37-67B8-AAFC-62E377D3E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INTRODUCTION TO UNETR </a:t>
            </a:r>
          </a:p>
          <a:p>
            <a:r>
              <a:rPr lang="en-IN" dirty="0"/>
              <a:t>PATCH AND POSITION EMBEDDING</a:t>
            </a:r>
          </a:p>
          <a:p>
            <a:r>
              <a:rPr lang="en-IN" dirty="0"/>
              <a:t>ARCHITECTURE OF UNTER</a:t>
            </a:r>
          </a:p>
          <a:p>
            <a:pPr lvl="2"/>
            <a:r>
              <a:rPr lang="en-IN" sz="1600" dirty="0"/>
              <a:t>TRANSFORMER </a:t>
            </a:r>
          </a:p>
          <a:p>
            <a:pPr lvl="3"/>
            <a:r>
              <a:rPr lang="en-IN" sz="1400" dirty="0"/>
              <a:t>MULTI HEAD ATTENTION</a:t>
            </a:r>
          </a:p>
          <a:p>
            <a:pPr lvl="3"/>
            <a:r>
              <a:rPr lang="en-IN" sz="1400" dirty="0"/>
              <a:t>MULTI LAYER PERCEPTRON</a:t>
            </a:r>
          </a:p>
          <a:p>
            <a:pPr lvl="2"/>
            <a:r>
              <a:rPr lang="en-IN" dirty="0"/>
              <a:t>CONVOLUTION BLOCKS</a:t>
            </a:r>
          </a:p>
          <a:p>
            <a:pPr lvl="2"/>
            <a:r>
              <a:rPr lang="en-IN" dirty="0"/>
              <a:t>DECONVOLUTION BLOCKS</a:t>
            </a:r>
          </a:p>
        </p:txBody>
      </p:sp>
    </p:spTree>
    <p:extLst>
      <p:ext uri="{BB962C8B-B14F-4D97-AF65-F5344CB8AC3E}">
        <p14:creationId xmlns:p14="http://schemas.microsoft.com/office/powerpoint/2010/main" val="1709128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206B7-1A2F-8AC3-793C-4D2AD50B10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8021F9-7E45-3C06-D50F-41C47D8C4B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FDFE2A3B-1FD2-2D12-C8B1-C25A8B062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17" y="1416818"/>
            <a:ext cx="11994383" cy="54411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34C8A7-22EB-0B9F-571D-F8FE92163878}"/>
              </a:ext>
            </a:extLst>
          </p:cNvPr>
          <p:cNvSpPr txBox="1"/>
          <p:nvPr/>
        </p:nvSpPr>
        <p:spPr>
          <a:xfrm>
            <a:off x="3074796" y="522514"/>
            <a:ext cx="5215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WORK FLOW</a:t>
            </a:r>
          </a:p>
        </p:txBody>
      </p:sp>
    </p:spTree>
    <p:extLst>
      <p:ext uri="{BB962C8B-B14F-4D97-AF65-F5344CB8AC3E}">
        <p14:creationId xmlns:p14="http://schemas.microsoft.com/office/powerpoint/2010/main" val="1874182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3B700-6066-EE5E-D32E-C29F6BF56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UNETR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6DCC199-1056-AA27-997F-F1E8150C03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10053" y="1435231"/>
            <a:ext cx="6381947" cy="398753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909E8-083B-79E3-E3FA-3987193D7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7901" y="1674028"/>
            <a:ext cx="5282152" cy="4262436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UNETR (</a:t>
            </a:r>
            <a:r>
              <a:rPr lang="en-US" dirty="0" err="1"/>
              <a:t>UNet</a:t>
            </a:r>
            <a:r>
              <a:rPr lang="en-US" dirty="0"/>
              <a:t> Transformer) is a novel deep learning model that combines the strengths of the U-Net architecture with Transformer-based encoders.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 It is designed for 3D medical image segmentation but it can also used for 2D offering improved accuracy by capturing global context and long-range dependencies.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This hybrid approach enhances performance in tasks like tumor segmentation, making it significant in medical imaging.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8147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1465B40-D34D-90E2-375C-C366593E1E0B}"/>
              </a:ext>
            </a:extLst>
          </p:cNvPr>
          <p:cNvSpPr/>
          <p:nvPr/>
        </p:nvSpPr>
        <p:spPr>
          <a:xfrm>
            <a:off x="7275872" y="3636757"/>
            <a:ext cx="4916128" cy="277515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7027D1-9F4F-B961-2144-9E000DC11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446088"/>
            <a:ext cx="5367011" cy="779397"/>
          </a:xfrm>
        </p:spPr>
        <p:txBody>
          <a:bodyPr/>
          <a:lstStyle/>
          <a:p>
            <a:r>
              <a:rPr lang="en-IN" dirty="0"/>
              <a:t>PATCH &amp; POSITOIN EMBEDDING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2CFC4B-07AE-1C1F-60B8-957CC07983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079" t="5363" r="52529" b="16691"/>
          <a:stretch/>
        </p:blipFill>
        <p:spPr>
          <a:xfrm>
            <a:off x="7330910" y="1196091"/>
            <a:ext cx="4719484" cy="222093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56B2D-A29A-51FA-9D1F-E31192934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3564" y="1363681"/>
            <a:ext cx="6469624" cy="6591160"/>
          </a:xfrm>
        </p:spPr>
        <p:txBody>
          <a:bodyPr>
            <a:normAutofit lnSpcReduction="10000"/>
          </a:bodyPr>
          <a:lstStyle/>
          <a:p>
            <a:r>
              <a:rPr lang="en-IN" sz="1800" b="1" dirty="0"/>
              <a:t>              </a:t>
            </a:r>
            <a:r>
              <a:rPr lang="en-IN" sz="1800" b="1" u="sng" dirty="0"/>
              <a:t>Patch embedding:</a:t>
            </a:r>
          </a:p>
          <a:p>
            <a:pPr marL="285750" indent="-285750">
              <a:lnSpc>
                <a:spcPct val="170000"/>
              </a:lnSpc>
              <a:buFont typeface="Courier New" panose="02070309020205020404" pitchFamily="49" charset="0"/>
              <a:buChar char="o"/>
            </a:pPr>
            <a:r>
              <a:rPr lang="en-US" sz="1600" dirty="0"/>
              <a:t>A patch embedding layer maps patches of pixels to vectors by dividing an input image into fixed-size patches, flattening them, and linearly projecting them into a higher-dimensional space.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900" b="1" dirty="0" err="1"/>
              <a:t>PatchEmbedding</a:t>
            </a:r>
            <a:r>
              <a:rPr lang="en-IN" sz="1900" b="1" dirty="0"/>
              <a:t> = FlattenedPatch⋅W+b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2000" dirty="0"/>
          </a:p>
          <a:p>
            <a:r>
              <a:rPr lang="en-IN" sz="2000" b="1" dirty="0"/>
              <a:t>         </a:t>
            </a:r>
            <a:r>
              <a:rPr lang="en-IN" sz="2000" b="1" u="sng" dirty="0"/>
              <a:t>Position embedding:</a:t>
            </a:r>
          </a:p>
          <a:p>
            <a:pPr marL="285750" indent="-285750"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en-US" sz="1700" dirty="0"/>
              <a:t>positional embeddings are order or positional identifiers added to the original embedding vectors for the transformer architecture to incorporate the order of the sequence</a:t>
            </a:r>
          </a:p>
          <a:p>
            <a:pPr marL="1200150" lvl="2" indent="-285750"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en-US" sz="1300" b="1" dirty="0" err="1"/>
              <a:t>PosEmbedding</a:t>
            </a:r>
            <a:r>
              <a:rPr lang="en-US" sz="1300" b="1" dirty="0"/>
              <a:t>[</a:t>
            </a:r>
            <a:r>
              <a:rPr lang="en-US" sz="1300" b="1" dirty="0" err="1"/>
              <a:t>i</a:t>
            </a:r>
            <a:r>
              <a:rPr lang="en-US" sz="1300" b="1" dirty="0"/>
              <a:t>]=</a:t>
            </a:r>
            <a:r>
              <a:rPr lang="en-US" sz="1300" b="1" dirty="0" err="1"/>
              <a:t>TrainableParameter</a:t>
            </a:r>
            <a:r>
              <a:rPr lang="en-US" sz="1300" b="1" dirty="0"/>
              <a:t>[</a:t>
            </a:r>
            <a:r>
              <a:rPr lang="en-US" sz="1300" b="1" dirty="0" err="1"/>
              <a:t>i</a:t>
            </a:r>
            <a:r>
              <a:rPr lang="en-US" sz="1300" b="1" dirty="0"/>
              <a:t>]</a:t>
            </a:r>
            <a:endParaRPr lang="en-IN" sz="1700" dirty="0"/>
          </a:p>
          <a:p>
            <a:endParaRPr lang="en-US" sz="1700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1600" dirty="0"/>
          </a:p>
          <a:p>
            <a:r>
              <a:rPr lang="en-IN" sz="18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5303C3-11E2-0489-3D8C-346E45800941}"/>
              </a:ext>
            </a:extLst>
          </p:cNvPr>
          <p:cNvSpPr txBox="1"/>
          <p:nvPr/>
        </p:nvSpPr>
        <p:spPr>
          <a:xfrm>
            <a:off x="8841128" y="2968719"/>
            <a:ext cx="2800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Patch embedding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42956A-8BE5-A481-777A-7ED65D3634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304" t="19552" r="5593" b="16239"/>
          <a:stretch/>
        </p:blipFill>
        <p:spPr>
          <a:xfrm>
            <a:off x="7275872" y="3660715"/>
            <a:ext cx="4632516" cy="22909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450CE7-49EB-9D5A-EA36-7AEA9C420CBC}"/>
              </a:ext>
            </a:extLst>
          </p:cNvPr>
          <p:cNvSpPr txBox="1"/>
          <p:nvPr/>
        </p:nvSpPr>
        <p:spPr>
          <a:xfrm>
            <a:off x="8644482" y="5989426"/>
            <a:ext cx="2996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Position embedding</a:t>
            </a:r>
          </a:p>
        </p:txBody>
      </p:sp>
    </p:spTree>
    <p:extLst>
      <p:ext uri="{BB962C8B-B14F-4D97-AF65-F5344CB8AC3E}">
        <p14:creationId xmlns:p14="http://schemas.microsoft.com/office/powerpoint/2010/main" val="644514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6C106-0E34-20A4-7DEF-A421A04E4C0F}"/>
              </a:ext>
            </a:extLst>
          </p:cNvPr>
          <p:cNvSpPr txBox="1">
            <a:spLocks/>
          </p:cNvSpPr>
          <p:nvPr/>
        </p:nvSpPr>
        <p:spPr>
          <a:xfrm>
            <a:off x="1607159" y="155883"/>
            <a:ext cx="7965461" cy="994164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MULTILAYER PERCEPTRON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3A8A5-E335-0EDC-88B4-A504BECBCBA0}"/>
              </a:ext>
            </a:extLst>
          </p:cNvPr>
          <p:cNvSpPr txBox="1">
            <a:spLocks/>
          </p:cNvSpPr>
          <p:nvPr/>
        </p:nvSpPr>
        <p:spPr>
          <a:xfrm>
            <a:off x="4854103" y="1890887"/>
            <a:ext cx="6571924" cy="4363998"/>
          </a:xfrm>
          <a:prstGeom prst="rect">
            <a:avLst/>
          </a:prstGeom>
        </p:spPr>
        <p:txBody>
          <a:bodyPr/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	</a:t>
            </a:r>
          </a:p>
        </p:txBody>
      </p:sp>
      <p:pic>
        <p:nvPicPr>
          <p:cNvPr id="4" name="Picture 3" descr="Deep Learning Simplified: Feel and Talk like an Expert in Neural… – Towards  AI">
            <a:extLst>
              <a:ext uri="{FF2B5EF4-FFF2-40B4-BE49-F238E27FC236}">
                <a16:creationId xmlns:a16="http://schemas.microsoft.com/office/drawing/2014/main" id="{13A5A324-90EC-FB10-02DD-A914F1881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212" y="1457608"/>
            <a:ext cx="4591546" cy="3367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3849BC-216F-F304-0608-57BA728AD3E3}"/>
                  </a:ext>
                </a:extLst>
              </p:cNvPr>
              <p:cNvSpPr txBox="1"/>
              <p:nvPr/>
            </p:nvSpPr>
            <p:spPr>
              <a:xfrm>
                <a:off x="866904" y="1583326"/>
                <a:ext cx="6278953" cy="50726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en-US" b="1" dirty="0"/>
                  <a:t>Feed forward propagation</a:t>
                </a:r>
              </a:p>
              <a:p>
                <a:pPr lvl="1" algn="ctr"/>
                <a:r>
                  <a:rPr lang="en-IN" sz="2400" b="1" dirty="0">
                    <a:solidFill>
                      <a:schemeClr val="accent6"/>
                    </a:solidFill>
                  </a:rPr>
                  <a:t>z=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IN" sz="24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IN" sz="24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𝒊𝒏𝒑</m:t>
                        </m:r>
                        <m:r>
                          <a:rPr lang="en-IN" sz="24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IN" sz="2400" b="1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IN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IN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4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sz="24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𝒊𝒏𝒑</m:t>
                            </m:r>
                          </m:sub>
                        </m:sSub>
                        <m:r>
                          <a:rPr lang="en-IN" sz="24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400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sz="24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𝒐𝒖𝒕</m:t>
                            </m:r>
                          </m:sub>
                        </m:sSub>
                        <m:r>
                          <a:rPr lang="en-IN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IN" sz="2400" b="1" dirty="0">
                    <a:solidFill>
                      <a:schemeClr val="accent6"/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sSub>
                          <m:sSubPr>
                            <m:ctrlPr>
                              <a:rPr lang="en-IN" sz="2400" b="1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1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sz="2400" b="1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𝒐𝒖𝒕</m:t>
                            </m:r>
                          </m:sub>
                        </m:sSub>
                      </m:sub>
                    </m:sSub>
                  </m:oMath>
                </a14:m>
                <a:endParaRPr lang="en-IN" sz="2400" b="1" dirty="0"/>
              </a:p>
              <a:p>
                <a:pPr lvl="1"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1,3072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1,256∗768</m:t>
                        </m:r>
                      </m:sub>
                    </m:sSub>
                  </m:oMath>
                </a14:m>
                <a:r>
                  <a:rPr lang="en-US" sz="2400" dirty="0"/>
                  <a:t>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256∗768,3072</m:t>
                        </m:r>
                      </m:sub>
                    </m:sSub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3072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en-US" b="1" dirty="0"/>
                  <a:t>Activation function</a:t>
                </a:r>
              </a:p>
              <a:p>
                <a:pPr lvl="1"/>
                <a:r>
                  <a:rPr lang="en-US" dirty="0"/>
                  <a:t>	</a:t>
                </a:r>
                <a:r>
                  <a:rPr lang="en-IN" b="1" dirty="0">
                    <a:solidFill>
                      <a:schemeClr val="accent6"/>
                    </a:solidFill>
                  </a:rPr>
                  <a:t> GELU(x)≈0.5x(1+tanh(</a:t>
                </a:r>
                <a:r>
                  <a:rPr lang="el-GR" b="1" dirty="0">
                    <a:solidFill>
                      <a:schemeClr val="accent6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√</a:t>
                </a:r>
                <a:r>
                  <a:rPr lang="el-GR" b="1" dirty="0">
                    <a:solidFill>
                      <a:schemeClr val="accent6"/>
                    </a:solidFill>
                  </a:rPr>
                  <a:t>2</a:t>
                </a:r>
                <a:r>
                  <a:rPr lang="en-IN" b="1" dirty="0">
                    <a:solidFill>
                      <a:schemeClr val="accent6"/>
                    </a:solidFill>
                  </a:rPr>
                  <a:t>/</a:t>
                </a:r>
                <a:r>
                  <a:rPr lang="el-GR" b="1" dirty="0">
                    <a:solidFill>
                      <a:schemeClr val="accent6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π</a:t>
                </a:r>
                <a:r>
                  <a:rPr lang="el-GR" b="1" dirty="0">
                    <a:solidFill>
                      <a:schemeClr val="accent6"/>
                    </a:solidFill>
                  </a:rPr>
                  <a:t>​​(</a:t>
                </a:r>
                <a:r>
                  <a:rPr lang="en-IN" b="1" dirty="0">
                    <a:solidFill>
                      <a:schemeClr val="accent6"/>
                    </a:solidFill>
                  </a:rPr>
                  <a:t>x+0.044715x^3)))</a:t>
                </a:r>
                <a:endParaRPr lang="en-US" b="1" dirty="0">
                  <a:solidFill>
                    <a:schemeClr val="accent6"/>
                  </a:solidFill>
                </a:endParaRPr>
              </a:p>
              <a:p>
                <a:pPr lvl="1"/>
                <a:r>
                  <a:rPr lang="en-US" b="1" dirty="0"/>
                  <a:t>		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en-US" b="1" dirty="0"/>
                  <a:t>Loss function</a:t>
                </a:r>
              </a:p>
              <a:p>
                <a:pPr lvl="1"/>
                <a:r>
                  <a:rPr lang="en-US" b="1" dirty="0"/>
                  <a:t>	</a:t>
                </a:r>
              </a:p>
              <a:p>
                <a:pPr lvl="1"/>
                <a:r>
                  <a:rPr lang="en-US" b="1" dirty="0"/>
                  <a:t>	</a:t>
                </a:r>
              </a:p>
              <a:p>
                <a:pPr lvl="1"/>
                <a:endParaRPr lang="en-US" b="1" dirty="0"/>
              </a:p>
              <a:p>
                <a:pPr lvl="1"/>
                <a:endParaRPr lang="en-US" b="1" dirty="0"/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en-US" b="1" u="sng" dirty="0"/>
                  <a:t>Backward propagation</a:t>
                </a:r>
              </a:p>
              <a:p>
                <a:pPr lvl="1"/>
                <a:r>
                  <a:rPr lang="en-US" dirty="0"/>
                  <a:t>	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3849BC-216F-F304-0608-57BA728AD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904" y="1583326"/>
                <a:ext cx="6278953" cy="5072671"/>
              </a:xfrm>
              <a:prstGeom prst="rect">
                <a:avLst/>
              </a:prstGeom>
              <a:blipFill>
                <a:blip r:embed="rId3"/>
                <a:stretch>
                  <a:fillRect t="-7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D96CC31-728C-50A8-E584-6AAAAF5A6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5694" y="3901651"/>
            <a:ext cx="3040019" cy="9233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9819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D35B-5D90-3412-8CF5-FFA8C715B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 HEAD ATTENTION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9E36A6-D3AE-4412-4548-D5D264966E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7141" r="4260" b="14006"/>
          <a:stretch/>
        </p:blipFill>
        <p:spPr>
          <a:xfrm>
            <a:off x="6702458" y="876541"/>
            <a:ext cx="4573909" cy="373695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1A3C51-BD70-1F39-502B-6FDD40354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4113246" cy="5122698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Multi-head attention is a mechanism used in transformer-based architectures, designed to enhance the model's ability to focus on different parts of the input data simultaneously.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u="sng" dirty="0"/>
              <a:t>QKV</a:t>
            </a:r>
            <a:r>
              <a:rPr lang="en-US" sz="1400" b="1" dirty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 (Q)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used to represent what to attend to in other parts of the image.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Key (K)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used to represent the relationship between the current patch and other patches.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Value (V)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contain information that will be combined according to the attention weights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BA121B-D42D-7A4B-9466-733E455F1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458" y="4232466"/>
            <a:ext cx="3939881" cy="3810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E28979-C776-B534-2D4F-0164D182F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458" y="4789712"/>
            <a:ext cx="2400508" cy="5944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6F9CF3-EEDE-F00A-EC22-B6D27724E4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458" y="5696452"/>
            <a:ext cx="3939881" cy="92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132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097B-171A-9462-B1B7-937E26383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5FFB0BE6-6AFC-56DA-66E1-C238896B5360}"/>
              </a:ext>
            </a:extLst>
          </p:cNvPr>
          <p:cNvSpPr txBox="1">
            <a:spLocks/>
          </p:cNvSpPr>
          <p:nvPr/>
        </p:nvSpPr>
        <p:spPr>
          <a:xfrm>
            <a:off x="1784082" y="384526"/>
            <a:ext cx="7124248" cy="12851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b="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/>
              <a:t>Convolution  &amp; Deconvolution blocks</a:t>
            </a:r>
            <a:br>
              <a:rPr lang="en-US" dirty="0"/>
            </a:b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985C6BB-00DC-94A9-EF7F-91E2D4BF54B9}"/>
              </a:ext>
            </a:extLst>
          </p:cNvPr>
          <p:cNvSpPr txBox="1">
            <a:spLocks/>
          </p:cNvSpPr>
          <p:nvPr/>
        </p:nvSpPr>
        <p:spPr>
          <a:xfrm>
            <a:off x="7197442" y="6250321"/>
            <a:ext cx="5829147" cy="369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Deconvolution</a:t>
            </a:r>
            <a:r>
              <a:rPr lang="en-US" dirty="0"/>
              <a:t> 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88F344D5-A5F7-63B9-27FF-0F256B4AEA5A}"/>
              </a:ext>
            </a:extLst>
          </p:cNvPr>
          <p:cNvSpPr txBox="1">
            <a:spLocks/>
          </p:cNvSpPr>
          <p:nvPr/>
        </p:nvSpPr>
        <p:spPr>
          <a:xfrm>
            <a:off x="7940842" y="2303028"/>
            <a:ext cx="3485184" cy="396159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/>
              <a:t> </a:t>
            </a:r>
            <a:endParaRPr lang="en-US" dirty="0"/>
          </a:p>
        </p:txBody>
      </p:sp>
      <p:pic>
        <p:nvPicPr>
          <p:cNvPr id="13" name="Picture 2" descr="Deconvolutions and what to do about artifacts -">
            <a:extLst>
              <a:ext uri="{FF2B5EF4-FFF2-40B4-BE49-F238E27FC236}">
                <a16:creationId xmlns:a16="http://schemas.microsoft.com/office/drawing/2014/main" id="{5B0AAE4A-5205-BC69-D0A7-B3F3E2EE5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8460" y="3881418"/>
            <a:ext cx="3227110" cy="2222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Types of Convolution Kernels : Simplified | by Prakhar Ganesh | Towards  Data Science">
            <a:extLst>
              <a:ext uri="{FF2B5EF4-FFF2-40B4-BE49-F238E27FC236}">
                <a16:creationId xmlns:a16="http://schemas.microsoft.com/office/drawing/2014/main" id="{F34D41E6-A460-3F9C-AB7C-2F770D129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434" y="1270144"/>
            <a:ext cx="3227110" cy="2222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C3CCC91-AC59-3BF6-4A98-00E8D354676D}"/>
              </a:ext>
            </a:extLst>
          </p:cNvPr>
          <p:cNvSpPr txBox="1"/>
          <p:nvPr/>
        </p:nvSpPr>
        <p:spPr>
          <a:xfrm>
            <a:off x="8356715" y="3485547"/>
            <a:ext cx="2964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convolution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8BB50C-F042-124C-5820-9EB5555426E1}"/>
              </a:ext>
            </a:extLst>
          </p:cNvPr>
          <p:cNvSpPr txBox="1"/>
          <p:nvPr/>
        </p:nvSpPr>
        <p:spPr>
          <a:xfrm>
            <a:off x="655013" y="1947996"/>
            <a:ext cx="745829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Convolution layer: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dirty="0"/>
              <a:t>the convolution layer extracts features by sliding a filter over input image patches.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dirty="0"/>
              <a:t>This layer captures local patterns and prepares data for further processing by transformer blocks.</a:t>
            </a:r>
            <a:endParaRPr lang="en-US" altLang="en-US" b="1" dirty="0">
              <a:solidFill>
                <a:schemeClr val="tx1">
                  <a:lumMod val="95000"/>
                  <a:lumOff val="5000"/>
                </a:schemeClr>
              </a:solidFill>
              <a:latin typeface="JetBrains Mono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etBrains Mono"/>
              </a:rPr>
              <a:t>o/p=[(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etBrains Mono"/>
              </a:rPr>
              <a:t>ip_size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etBrains Mono"/>
              </a:rPr>
              <a:t> - kernel_size+2padding layers)/stride]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A04AEA-74ED-5117-EFC3-06E3A891FC61}"/>
              </a:ext>
            </a:extLst>
          </p:cNvPr>
          <p:cNvSpPr txBox="1"/>
          <p:nvPr/>
        </p:nvSpPr>
        <p:spPr>
          <a:xfrm>
            <a:off x="1456291" y="4121821"/>
            <a:ext cx="7216369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Deconvolution  Layer</a:t>
            </a:r>
            <a:r>
              <a:rPr lang="en-IN" b="1" dirty="0">
                <a:solidFill>
                  <a:srgbClr val="002060"/>
                </a:solidFill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entury Gothic (Body)"/>
              </a:rPr>
              <a:t>A deconvolution block is a network component used for increasing the spatial   resolution of feature maps.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entury Gothic (Body)"/>
              </a:rPr>
              <a:t>It performs </a:t>
            </a:r>
            <a:r>
              <a:rPr lang="en-US" sz="1600" dirty="0" err="1">
                <a:latin typeface="Century Gothic (Body)"/>
              </a:rPr>
              <a:t>upsampling</a:t>
            </a:r>
            <a:r>
              <a:rPr lang="en-US" sz="1600" dirty="0">
                <a:latin typeface="Century Gothic (Body)"/>
              </a:rPr>
              <a:t> by learning to reconstruct finer details from lower-resolution inputs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b="1" dirty="0">
              <a:solidFill>
                <a:srgbClr val="002060"/>
              </a:solidFill>
              <a:latin typeface="Century Gothic (Body)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404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2B2C780-839A-7630-5CDB-70F4F9A4248B}"/>
              </a:ext>
            </a:extLst>
          </p:cNvPr>
          <p:cNvSpPr txBox="1">
            <a:spLocks/>
          </p:cNvSpPr>
          <p:nvPr/>
        </p:nvSpPr>
        <p:spPr>
          <a:xfrm>
            <a:off x="3775324" y="1694468"/>
            <a:ext cx="7965461" cy="3469064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chemeClr val="accent1">
                    <a:lumMod val="5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736962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1904</TotalTime>
  <Words>833</Words>
  <Application>Microsoft Office PowerPoint</Application>
  <PresentationFormat>Widescreen</PresentationFormat>
  <Paragraphs>135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Calibri</vt:lpstr>
      <vt:lpstr>Cambria Math</vt:lpstr>
      <vt:lpstr>Century Gothic</vt:lpstr>
      <vt:lpstr>Century Gothic (Body)</vt:lpstr>
      <vt:lpstr>Courier New</vt:lpstr>
      <vt:lpstr>JetBrains Mono</vt:lpstr>
      <vt:lpstr>Wingdings</vt:lpstr>
      <vt:lpstr>Wingdings 3</vt:lpstr>
      <vt:lpstr>Wisp</vt:lpstr>
      <vt:lpstr>GENERATIVE NEUROLOGIST</vt:lpstr>
      <vt:lpstr> </vt:lpstr>
      <vt:lpstr>INTRODUCTION TO UNETR</vt:lpstr>
      <vt:lpstr>AGENDA</vt:lpstr>
      <vt:lpstr>PATCH &amp; POSITOIN EMBEDDING</vt:lpstr>
      <vt:lpstr>PowerPoint Presentation</vt:lpstr>
      <vt:lpstr>MULTI HEAD ATTENTION</vt:lpstr>
      <vt:lpstr> </vt:lpstr>
      <vt:lpstr>PowerPoint Presentation</vt:lpstr>
      <vt:lpstr>GENERATIVE NEUROLOGIST</vt:lpstr>
      <vt:lpstr>AGENDA</vt:lpstr>
      <vt:lpstr> </vt:lpstr>
      <vt:lpstr>INTRODUCTION TO UNETR</vt:lpstr>
      <vt:lpstr>PATCH &amp; POSITOIN EMBEDDING</vt:lpstr>
      <vt:lpstr>PowerPoint Presentation</vt:lpstr>
      <vt:lpstr>MULTI HEAD ATTENTION</vt:lpstr>
      <vt:lpstr>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Narendra Vadnala</dc:creator>
  <cp:lastModifiedBy>Narendra Vadnala</cp:lastModifiedBy>
  <cp:revision>8</cp:revision>
  <dcterms:created xsi:type="dcterms:W3CDTF">2024-07-03T04:16:30Z</dcterms:created>
  <dcterms:modified xsi:type="dcterms:W3CDTF">2024-07-17T08:22:50Z</dcterms:modified>
</cp:coreProperties>
</file>